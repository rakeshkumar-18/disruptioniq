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70" r:id="rId21"/>
    <p:sldId id="262" r:id="rId8"/>
    <p:sldId id="267" r:id="rId18"/>
    <p:sldId id="268" r:id="rId19"/>
    <p:sldId id="269" r:id="rId20"/>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6bfeb95f-59ab-d97a-4282-96b9850cdfde}">
          <p14:sldIdLst>
            <p14:sldId id="256"/>
          </p14:sldIdLst>
        </p14:section>
        <p14:section name="Problem Statement" id="{aafcf5a9-ddb4-3648-2897-3d1ca6db87c4}">
          <p14:sldIdLst>
            <p14:sldId id="257"/>
          </p14:sldIdLst>
        </p14:section>
        <p14:section name="Solution Overview" id="{430983a3-fbfd-325e-4172-a392ba820a22}">
          <p14:sldIdLst>
            <p14:sldId id="258"/>
          </p14:sldIdLst>
        </p14:section>
        <p14:section name="Technical Approach" id="{daf20fb5-202a-c9ad-ef40-bd278e4f9fb9}">
          <p14:sldIdLst>
            <p14:sldId id="259"/>
            <p14:sldId id="260"/>
            <p14:sldId id="261"/>
            <p14:sldId id="262"/>
            <p14:sldId id="263"/>
          </p14:sldIdLst>
        </p14:section>
        <p14:section name="Market Potential and Business Model" id="{ac968c5f-c849-5cfa-3197-b8950d2f596c}">
          <p14:sldIdLst>
            <p14:sldId id="264"/>
          </p14:sldIdLst>
        </p14:section>
        <p14:section name="Future Scope" id="{a1beea80-5e34-f481-095b-f7d552ff3cec}">
          <p14:sldIdLst>
            <p14:sldId id="265"/>
          </p14:sldIdLst>
        </p14:section>
        <p14:section name="Backup" id="{f16f2e56-31b5-0b02-0b6b-4edb2a614d64}">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[TEAM NAME]. DisruptionIQ turns a delivery delay into a recovery plan that a person approves. In five minutes: the problem, how it works, and why you can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logistics team can see a late shipment on a tracking screen. The hard part comes next: which customer orders it hits, how serious that is, and what to do. Today that is often worked out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DisruptionIQ takes one alert and returns one recovery plan for a person to approve. The key idea is the split: rules decide what is possible, AI explains it in plain language, and a human has the final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event arrives and rules detect the disruption, assess the impact and rank the risk. Rules build the recovery options and AI explains them; a human approves, we simulate execution, and every step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disruptions in the live demo. A sea-freight delay at Chennai Port puts three orders worth ₹8.9 lakh at risk; a supplier shortfall in Mumbai hits three more worth ₹12 lakh. Watch the do-no-harm check: for Chennai it skips a stock source that would starve another order, and in Mumbai the free split options are flagged because each would starve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novelty. Other tools judge a fix only by whether it saves the order in front of them. DisruptionIQ checks what every fix would take from other orders before anyone sees it. Here, the free option of splitting Nova Medical's order would leave Pioneer Labs six units short, so it is flagged in red and ranked last, and the map shows the harm. For the Chennai delay, Chennai was skipped as a stock source for the same reason. The approver sees the check again with today's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built nine options for the Mumbai disruption and checked each one for side effects. Gemini reads them and recommends one per order; the page highlights its picks as AI suggested, with one-click select buttons. Gemini can only pick option numbers that exist, and if the AI is unavailable the rules' own pick is shown instead. A person still submits, and another person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is messy, so duplicate events, invalid data and stale updates are handled safely. The server enforces five roles, blocks self-approval and rechecks stock right before execution, and every step lands in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sets us apart: AI with guardrails, a do-no-harm check on every fix, a chaos button that proves the safety rules live, visible separation of duties and a stock recheck before execution. Also live in the demo: the stress test, the ripple replay and a map preview of every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an alert becomes checked, ranked recovery options in under five seconds, and the ripple replay shows ₹15.6 lakh lost in a week if nobody acts, against zero with the fixes. Next: live carrier and ERP data, a delay-prediction model trained on our risk dataset, and spending limits with WhatsApp approvals.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architecture questions. The full app is one Next.js app, one PostgreSQL database and one rules engine; the live demo runs the same rules in the browser. Gemini is called only from a Vercel server function that keeps the key secret, and its picks are checked against the options the rules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tools tell you what broke. The stress test breaks the network on purpose, in simulation: every warehouse and supplier fails for a week, one at a time, and the rules measure the damage. Mumbai is the weakest point, with ₹12 lakh of orders and two with no backup; the suggested fix is buffer stock of the control unit in Hyderabad. It is chaos engineering applied to a supply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Ripple replay shows the cost of waiting. Drag through the next seven days: if nobody acts, Nova Medical's order is missed on day three, fixes expire as transit time runs out, and ₹15.6 lakh is lost by day seven. Switch to 'with suggested fixes' and the loss stays at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3.5 Flash-Lite works at every step: a morning briefing written for each role, a plain-English summary for the approver of what a plan commits to and what to check, and an incident report written automatically when a disruption is resolved and saved to the audit log. The rules work out every number; the AI only writes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should be helped first: a hospital's ICU monitors or a premium subscription? DisruptionIQ ranks recovery by necessity: life-critical healthcare deliveries first, then essential services like food and energy, then operational and commercial orders, and only then urgency, contract priority and value. Here Pioneer Labs has a Critical premium contract, yet scores 30 while Nova Medical's ICU monitors score 97. A red header pops up on every page with Recover now, and any fix that would take stock the hospital needs is blocked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Q Content">
    <p:bg>
      <p:bgPr>
        <a:solidFill>
          <a:schemeClr val="bg1"/>
        </a:solidFill>
      </p:bgPr>
    </p:bg>
    <p:spTree>
      <p:nvGrpSpPr>
        <p:cNvPr id="1" name=""/>
        <p:cNvGrpSpPr/>
        <p:nvPr/>
      </p:nvGrpSpPr>
      <p:grpSpPr>
        <a:xfrm>
          <a:off x="0" y="0"/>
          <a:ext cx="0" cy="0"/>
          <a:chOff x="0" y="0"/>
          <a:chExt cx="0" cy="0"/>
        </a:xfrm>
      </p:grpSpPr>
      <p:pic>
        <p:nvPicPr>
          <p:cNvPr id="2" name="Image 0" descr="Easwari Engineering College logo">    </p:cNvPr>
          <p:cNvPicPr>
            <a:picLocks noChangeAspect="1"/>
          </p:cNvPicPr>
          <p:nvPr/>
        </p:nvPicPr>
        <p:blipFill>
          <a:blip r:embed="rId1"/>
          <a:stretch>
            <a:fillRect/>
          </a:stretch>
        </p:blipFill>
        <p:spPr>
          <a:xfrm>
            <a:off x="320040" y="164592"/>
            <a:ext cx="502920" cy="502920"/>
          </a:xfrm>
          <a:prstGeom prst="rect">
            <a:avLst/>
          </a:prstGeom>
        </p:spPr>
      </p:pic>
      <p:pic>
        <p:nvPicPr>
          <p:cNvPr id="3" name="Image 1" descr="Techsaavy club logo">    </p:cNvPr>
          <p:cNvPicPr>
            <a:picLocks noChangeAspect="1"/>
          </p:cNvPicPr>
          <p:nvPr/>
        </p:nvPicPr>
        <p:blipFill>
          <a:blip r:embed="rId2"/>
          <a:stretch>
            <a:fillRect/>
          </a:stretch>
        </p:blipFill>
        <p:spPr>
          <a:xfrm>
            <a:off x="8287207" y="164592"/>
            <a:ext cx="536753" cy="502920"/>
          </a:xfrm>
          <a:prstGeom prst="rect">
            <a:avLst/>
          </a:prstGeom>
        </p:spPr>
      </p:pic>
      <p:sp>
        <p:nvSpPr>
          <p:cNvPr id="4" name="Text 0"/>
          <p:cNvSpPr/>
          <p:nvPr/>
        </p:nvSpPr>
        <p:spPr>
          <a:xfrm>
            <a:off x="1828800" y="146304"/>
            <a:ext cx="5486400" cy="292608"/>
          </a:xfrm>
          <a:prstGeom prst="rect">
            <a:avLst/>
          </a:prstGeom>
          <a:noFill/>
          <a:ln/>
        </p:spPr>
        <p:txBody>
          <a:bodyPr wrap="square" lIns="0" tIns="0" rIns="0" bIns="0" rtlCol="0" anchor="ctr"/>
          <a:lstStyle/>
          <a:p>
            <a:pPr algn="ctr" indent="0" marL="0">
              <a:buNone/>
            </a:pPr>
            <a:r>
              <a:rPr lang="en-US" sz="1400" b="1" i="1" spc="400" kern="0" dirty="0">
                <a:solidFill>
                  <a:schemeClr val="accent1"/>
                </a:solidFill>
              </a:rPr>
              <a:t>OVERCLOCK'26</a:t>
            </a:r>
            <a:endParaRPr lang="en-US" sz="1400" dirty="0"/>
          </a:p>
        </p:txBody>
      </p:sp>
      <p:sp>
        <p:nvSpPr>
          <p:cNvPr id="5" name="Text 1"/>
          <p:cNvSpPr/>
          <p:nvPr/>
        </p:nvSpPr>
        <p:spPr>
          <a:xfrm>
            <a:off x="1828800" y="438912"/>
            <a:ext cx="5486400" cy="201168"/>
          </a:xfrm>
          <a:prstGeom prst="rect">
            <a:avLst/>
          </a:prstGeom>
          <a:noFill/>
          <a:ln/>
        </p:spPr>
        <p:txBody>
          <a:bodyPr wrap="square" lIns="0" tIns="0" rIns="0" bIns="0" rtlCol="0" anchor="ctr"/>
          <a:lstStyle/>
          <a:p>
            <a:pPr algn="ctr" indent="0" marL="0">
              <a:buNone/>
            </a:pPr>
            <a:r>
              <a:rPr lang="en-US" sz="1000" spc="200" kern="0" dirty="0">
                <a:solidFill>
                  <a:schemeClr val="accent2"/>
                </a:solidFill>
              </a:rPr>
              <a:t>24 HOURS HACKATHON  |  AN AI-ASSISTED HACKATHON</a:t>
            </a:r>
            <a:endParaRPr lang="en-US" sz="1000" dirty="0"/>
          </a:p>
        </p:txBody>
      </p:sp>
      <p:sp>
        <p:nvSpPr>
          <p:cNvPr id="6" name="Text 2"/>
          <p:cNvSpPr/>
          <p:nvPr/>
        </p:nvSpPr>
        <p:spPr>
          <a:xfrm>
            <a:off x="2286000" y="4754880"/>
            <a:ext cx="4572000" cy="228600"/>
          </a:xfrm>
          <a:prstGeom prst="rect">
            <a:avLst/>
          </a:prstGeom>
          <a:noFill/>
          <a:ln/>
        </p:spPr>
        <p:txBody>
          <a:bodyPr wrap="square" lIns="0" tIns="0" rIns="0" bIns="0" rtlCol="0" anchor="ctr"/>
          <a:lstStyle/>
          <a:p>
            <a:pPr algn="ctr" indent="0" marL="0">
              <a:buNone/>
            </a:pPr>
            <a:r>
              <a:rPr lang="en-US" sz="1000" dirty="0">
                <a:solidFill>
                  <a:schemeClr val="accent2"/>
                </a:solidFill>
              </a:rPr>
              <a:t>Techsaavy Club  |  Department of Information Technology</a:t>
            </a:r>
            <a:endParaRPr lang="en-US" sz="1000" dirty="0"/>
          </a:p>
        </p:txBody>
      </p:sp>
      <p:sp>
        <p:nvSpPr>
          <p:cNvPr id="7" name="Text 3"/>
          <p:cNvSpPr/>
          <p:nvPr>
            <p:ph idx="105" type="body" hasCustomPrompt="1"/>
          </p:nvPr>
        </p:nvSpPr>
        <p:spPr>
          <a:xfrm>
            <a:off x="457200" y="822960"/>
            <a:ext cx="8229600" cy="256032"/>
          </a:xfrm>
          <a:prstGeom prst="rect">
            <a:avLst/>
          </a:prstGeom>
          <a:noFill/>
          <a:ln/>
        </p:spPr>
        <p:txBody>
          <a:bodyPr wrap="square" rtlCol="0"/>
          <a:lstStyle>
            <a:lvl1pPr algn="l" indent="0" marL="0">
              <a:buNone/>
              <a:defRPr lang="en-US" sz="1200" b="1" dirty="0">
                <a:solidFill>
                  <a:schemeClr val="accent1"/>
                </a:solidFill>
              </a:defRPr>
            </a:lvl1pPr>
          </a:lstStyle>
          <a:p>
            <a:pPr algn="l" indent="0" marL="0">
              <a:buNone/>
            </a:pPr>
            <a:endParaRPr lang="en-US" sz="1200" dirty="0"/>
          </a:p>
        </p:txBody>
      </p:sp>
      <p:sp>
        <p:nvSpPr>
          <p:cNvPr id="8" name="Text 3"/>
          <p:cNvSpPr/>
          <p:nvPr>
            <p:ph idx="106" type="title" hasCustomPrompt="1"/>
          </p:nvPr>
        </p:nvSpPr>
        <p:spPr>
          <a:xfrm>
            <a:off x="457200" y="1069848"/>
            <a:ext cx="8229600" cy="84124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Q Title">
    <p:bg>
      <p:bgPr>
        <a:solidFill>
          <a:schemeClr val="bg1"/>
        </a:solidFill>
      </p:bgPr>
    </p:bg>
    <p:spTree>
      <p:nvGrpSpPr>
        <p:cNvPr id="1" name=""/>
        <p:cNvGrpSpPr/>
        <p:nvPr/>
      </p:nvGrpSpPr>
      <p:grpSpPr>
        <a:xfrm>
          <a:off x="0" y="0"/>
          <a:ext cx="0" cy="0"/>
          <a:chOff x="0" y="0"/>
          <a:chExt cx="0" cy="0"/>
        </a:xfrm>
      </p:grpSpPr>
      <p:pic>
        <p:nvPicPr>
          <p:cNvPr id="2" name="Image 0" descr="Easwari Engineering College logo">    </p:cNvPr>
          <p:cNvPicPr>
            <a:picLocks noChangeAspect="1"/>
          </p:cNvPicPr>
          <p:nvPr/>
        </p:nvPicPr>
        <p:blipFill>
          <a:blip r:embed="rId1"/>
          <a:stretch>
            <a:fillRect/>
          </a:stretch>
        </p:blipFill>
        <p:spPr>
          <a:xfrm>
            <a:off x="411480" y="274320"/>
            <a:ext cx="731520" cy="731520"/>
          </a:xfrm>
          <a:prstGeom prst="rect">
            <a:avLst/>
          </a:prstGeom>
        </p:spPr>
      </p:pic>
      <p:pic>
        <p:nvPicPr>
          <p:cNvPr id="3" name="Image 1" descr="Techsaavy club logo">    </p:cNvPr>
          <p:cNvPicPr>
            <a:picLocks noChangeAspect="1"/>
          </p:cNvPicPr>
          <p:nvPr/>
        </p:nvPicPr>
        <p:blipFill>
          <a:blip r:embed="rId2"/>
          <a:stretch>
            <a:fillRect/>
          </a:stretch>
        </p:blipFill>
        <p:spPr>
          <a:xfrm>
            <a:off x="7952537" y="274320"/>
            <a:ext cx="779983" cy="731520"/>
          </a:xfrm>
          <a:prstGeom prst="rect">
            <a:avLst/>
          </a:prstGeom>
        </p:spPr>
      </p:pic>
      <p:sp>
        <p:nvSpPr>
          <p:cNvPr id="4" name="Text 0"/>
          <p:cNvSpPr/>
          <p:nvPr/>
        </p:nvSpPr>
        <p:spPr>
          <a:xfrm>
            <a:off x="2286000" y="4754880"/>
            <a:ext cx="4572000" cy="228600"/>
          </a:xfrm>
          <a:prstGeom prst="rect">
            <a:avLst/>
          </a:prstGeom>
          <a:noFill/>
          <a:ln/>
        </p:spPr>
        <p:txBody>
          <a:bodyPr wrap="square" lIns="0" tIns="0" rIns="0" bIns="0" rtlCol="0" anchor="ctr"/>
          <a:lstStyle/>
          <a:p>
            <a:pPr algn="ctr" indent="0" marL="0">
              <a:buNone/>
            </a:pPr>
            <a:r>
              <a:rPr lang="en-US" sz="1000" dirty="0">
                <a:solidFill>
                  <a:schemeClr val="accent2"/>
                </a:solidFill>
              </a:rPr>
              <a:t>Techsaavy Club  |  Department of Information Technology</a:t>
            </a:r>
            <a:endParaRPr lang="en-US" sz="1000" dirty="0"/>
          </a:p>
        </p:txBody>
      </p:sp>
      <p:sp>
        <p:nvSpPr>
          <p:cNvPr id="5" name="Text 1"/>
          <p:cNvSpPr/>
          <p:nvPr>
            <p:ph idx="103" type="title" hasCustomPrompt="1"/>
          </p:nvPr>
        </p:nvSpPr>
        <p:spPr>
          <a:xfrm>
            <a:off x="548640" y="1828800"/>
            <a:ext cx="5120640" cy="77724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diq-shot-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diq-shot-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diq-shot-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diq-shot-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diq-shot-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diq-shot-6.png"/><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5486400" cy="411480"/>
          </a:xfrm>
          <a:prstGeom prst="rect">
            <a:avLst/>
          </a:prstGeom>
          <a:noFill/>
          <a:ln/>
        </p:spPr>
        <p:txBody>
          <a:bodyPr wrap="square" lIns="0" tIns="0" rIns="0" bIns="0" rtlCol="0" anchor="t"/>
          <a:lstStyle/>
          <a:p>
            <a:pPr indent="0" marL="0">
              <a:buNone/>
            </a:pPr>
            <a:r>
              <a:rPr lang="en-US" sz="2600" b="1" i="1" spc="300" kern="0" dirty="0">
                <a:solidFill>
                  <a:schemeClr val="accent1"/>
                </a:solidFill>
              </a:rPr>
              <a:t>OVERCLOCK'26</a:t>
            </a:r>
            <a:endParaRPr lang="en-US" sz="2600" dirty="0"/>
          </a:p>
        </p:txBody>
      </p:sp>
      <p:sp>
        <p:nvSpPr>
          <p:cNvPr id="3" name="Text 1"/>
          <p:cNvSpPr txBox="1"/>
          <p:nvPr/>
        </p:nvSpPr>
        <p:spPr>
          <a:xfrm>
            <a:off x="548640" y="1527048"/>
            <a:ext cx="5943600" cy="228600"/>
          </a:xfrm>
          <a:prstGeom prst="rect">
            <a:avLst/>
          </a:prstGeom>
          <a:noFill/>
          <a:ln/>
        </p:spPr>
        <p:txBody>
          <a:bodyPr wrap="square" lIns="0" tIns="0" rIns="0" bIns="0" rtlCol="0" anchor="t"/>
          <a:lstStyle/>
          <a:p>
            <a:pPr indent="0" marL="0">
              <a:buNone/>
            </a:pPr>
            <a:r>
              <a:rPr lang="en-US" sz="1100" b="1" spc="200" kern="0" dirty="0">
                <a:solidFill>
                  <a:schemeClr val="tx1"/>
                </a:solidFill>
              </a:rPr>
              <a:t>24 HOURS HACKATHON  |  AN AI-ASSISTED HACKATHON</a:t>
            </a:r>
            <a:endParaRPr lang="en-US" sz="1100" dirty="0"/>
          </a:p>
        </p:txBody>
      </p:sp>
      <p:sp>
        <p:nvSpPr>
          <p:cNvPr id="4" name="Text 1"/>
          <p:cNvSpPr/>
          <p:nvPr>
            <p:ph idx="103" type="title" hasCustomPrompt="1"/>
          </p:nvPr>
        </p:nvSpPr>
        <p:spPr>
          <a:xfrm>
            <a:off x="548640" y="1828800"/>
            <a:ext cx="5120640" cy="777240"/>
          </a:xfrm>
          <a:prstGeom prst="rect">
            <a:avLst/>
          </a:prstGeom>
          <a:noFill/>
          <a:ln/>
        </p:spPr>
        <p:txBody>
          <a:bodyPr wrap="square" lIns="0" tIns="0" rIns="0" bIns="0" rtlCol="0" anchor="t"/>
          <a:lstStyle/>
          <a:p>
            <a:pPr algn="l" indent="0" marL="0">
              <a:buNone/>
            </a:pPr>
            <a:r>
              <a:rPr lang="en-US" sz="4800" b="1" dirty="0">
                <a:solidFill>
                  <a:schemeClr val="tx1"/>
                </a:solidFill>
              </a:rPr>
              <a:t>Disruption</a:t>
            </a:r>
            <a:pPr algn="l" indent="0" marL="0">
              <a:buNone/>
            </a:pPr>
            <a:r>
              <a:rPr lang="en-US" sz="4800" b="1" dirty="0">
                <a:solidFill>
                  <a:schemeClr val="accent1"/>
                </a:solidFill>
              </a:rPr>
              <a:t>IQ</a:t>
            </a:r>
            <a:endParaRPr lang="en-US" sz="4800" dirty="0"/>
          </a:p>
        </p:txBody>
      </p:sp>
      <p:sp>
        <p:nvSpPr>
          <p:cNvPr id="5" name="Text 3"/>
          <p:cNvSpPr txBox="1"/>
          <p:nvPr/>
        </p:nvSpPr>
        <p:spPr>
          <a:xfrm>
            <a:off x="548640" y="2633472"/>
            <a:ext cx="5120640" cy="411480"/>
          </a:xfrm>
          <a:prstGeom prst="rect">
            <a:avLst/>
          </a:prstGeom>
          <a:noFill/>
          <a:ln/>
        </p:spPr>
        <p:txBody>
          <a:bodyPr wrap="square" lIns="0" tIns="0" rIns="0" bIns="0" rtlCol="0" anchor="t"/>
          <a:lstStyle/>
          <a:p>
            <a:pPr indent="0" marL="0">
              <a:buNone/>
            </a:pPr>
            <a:r>
              <a:rPr lang="en-US" sz="2000" dirty="0">
                <a:solidFill>
                  <a:schemeClr val="tx1"/>
                </a:solidFill>
              </a:rPr>
              <a:t>From delivery delays to recovery plans</a:t>
            </a:r>
            <a:endParaRPr lang="en-US" sz="2000" dirty="0"/>
          </a:p>
        </p:txBody>
      </p:sp>
      <p:sp>
        <p:nvSpPr>
          <p:cNvPr id="6" name="Text 4"/>
          <p:cNvSpPr/>
          <p:nvPr/>
        </p:nvSpPr>
        <p:spPr>
          <a:xfrm>
            <a:off x="548640" y="3291840"/>
            <a:ext cx="3840480" cy="420624"/>
          </a:xfrm>
          <a:prstGeom prst="roundRect">
            <a:avLst>
              <a:gd name="adj" fmla="val 21739"/>
            </a:avLst>
          </a:prstGeom>
          <a:solidFill>
            <a:schemeClr val="accent1"/>
          </a:solidFill>
          <a:ln/>
        </p:spPr>
        <p:txBody>
          <a:bodyPr wrap="square" lIns="76200" tIns="76200" rIns="76200" bIns="76200" rtlCol="0" anchor="ctr"/>
          <a:lstStyle/>
          <a:p>
            <a:pPr algn="ctr" indent="0" marL="0">
              <a:buNone/>
            </a:pPr>
            <a:r>
              <a:rPr lang="en-US" sz="1400" b="1" dirty="0">
                <a:solidFill>
                  <a:schemeClr val="bg1"/>
                </a:solidFill>
              </a:rPr>
              <a:t>PS </a:t>
            </a:r>
            <a:pPr algn="ctr" indent="0" marL="0">
              <a:buNone/>
            </a:pPr>
            <a:r>
              <a:rPr lang="en-US" sz="1400" b="1" dirty="0">
                <a:solidFill>
                  <a:schemeClr val="tx1"/>
                </a:solidFill>
                <a:highlight>
                  <a:srgbClr val="FFFF00"/>
                </a:highlight>
              </a:rPr>
              <a:t>[No.]</a:t>
            </a:r>
            <a:pPr algn="ctr" indent="0" marL="0">
              <a:buNone/>
            </a:pPr>
            <a:r>
              <a:rPr lang="en-US" sz="1400" b="1" dirty="0">
                <a:solidFill>
                  <a:schemeClr val="bg1"/>
                </a:solidFill>
              </a:rPr>
              <a:t>  ·  Logistics and Supply Chain</a:t>
            </a:r>
            <a:endParaRPr lang="en-US" sz="1400" dirty="0"/>
          </a:p>
        </p:txBody>
      </p:sp>
      <p:sp>
        <p:nvSpPr>
          <p:cNvPr id="7" name="Text 5"/>
          <p:cNvSpPr/>
          <p:nvPr/>
        </p:nvSpPr>
        <p:spPr>
          <a:xfrm>
            <a:off x="4526280" y="3291840"/>
            <a:ext cx="2194560" cy="420624"/>
          </a:xfrm>
          <a:prstGeom prst="roundRect">
            <a:avLst>
              <a:gd name="adj" fmla="val 21739"/>
            </a:avLst>
          </a:prstGeom>
          <a:solidFill>
            <a:schemeClr val="bg1"/>
          </a:solidFill>
          <a:ln w="19050">
            <a:solidFill>
              <a:schemeClr val="accent1"/>
            </a:solidFill>
          </a:ln>
        </p:spPr>
        <p:txBody>
          <a:bodyPr wrap="square" lIns="76200" tIns="76200" rIns="76200" bIns="76200" rtlCol="0" anchor="ctr"/>
          <a:lstStyle/>
          <a:p>
            <a:pPr algn="ctr" indent="0" marL="0">
              <a:buNone/>
            </a:pPr>
            <a:r>
              <a:rPr lang="en-US" sz="1400" b="1" dirty="0">
                <a:solidFill>
                  <a:schemeClr val="accent1"/>
                </a:solidFill>
              </a:rPr>
              <a:t>Team </a:t>
            </a:r>
            <a:pPr algn="ctr" indent="0" marL="0">
              <a:buNone/>
            </a:pPr>
            <a:r>
              <a:rPr lang="en-US" sz="1400" b="1" dirty="0">
                <a:solidFill>
                  <a:schemeClr val="tx1"/>
                </a:solidFill>
                <a:highlight>
                  <a:srgbClr val="FFFF00"/>
                </a:highlight>
              </a:rPr>
              <a:t>[TEAM NAME]</a:t>
            </a:r>
            <a:endParaRPr lang="en-US" sz="1400" dirty="0"/>
          </a:p>
        </p:txBody>
      </p:sp>
      <p:sp>
        <p:nvSpPr>
          <p:cNvPr id="8" name="Text 6"/>
          <p:cNvSpPr txBox="1"/>
          <p:nvPr/>
        </p:nvSpPr>
        <p:spPr>
          <a:xfrm>
            <a:off x="548640" y="3886200"/>
            <a:ext cx="5486400" cy="320040"/>
          </a:xfrm>
          <a:prstGeom prst="rect">
            <a:avLst/>
          </a:prstGeom>
          <a:noFill/>
          <a:ln/>
        </p:spPr>
        <p:txBody>
          <a:bodyPr wrap="square" lIns="0" tIns="0" rIns="0" bIns="0" rtlCol="0" anchor="t"/>
          <a:lstStyle/>
          <a:p>
            <a:pPr indent="0" marL="0">
              <a:buNone/>
            </a:pPr>
            <a:r>
              <a:rPr lang="en-US" sz="1600" dirty="0">
                <a:solidFill>
                  <a:schemeClr val="tx1"/>
                </a:solidFill>
                <a:highlight>
                  <a:srgbClr val="FFFF00"/>
                </a:highlight>
              </a:rPr>
              <a:t>[NAMES]</a:t>
            </a:r>
            <a:endParaRPr lang="en-US" sz="1600" dirty="0"/>
          </a:p>
        </p:txBody>
      </p:sp>
      <p:sp>
        <p:nvSpPr>
          <p:cNvPr id="9" name="Shape 7"/>
          <p:cNvSpPr/>
          <p:nvPr/>
        </p:nvSpPr>
        <p:spPr>
          <a:xfrm>
            <a:off x="5596128" y="2670048"/>
            <a:ext cx="146304" cy="146304"/>
          </a:xfrm>
          <a:prstGeom prst="ellipse">
            <a:avLst/>
          </a:prstGeom>
          <a:solidFill>
            <a:schemeClr val="accent5"/>
          </a:solidFill>
          <a:ln/>
        </p:spPr>
      </p:sp>
      <p:sp>
        <p:nvSpPr>
          <p:cNvPr id="10" name="Shape 8"/>
          <p:cNvSpPr/>
          <p:nvPr/>
        </p:nvSpPr>
        <p:spPr>
          <a:xfrm>
            <a:off x="5742432" y="2743200"/>
            <a:ext cx="1682496" cy="0"/>
          </a:xfrm>
          <a:prstGeom prst="line">
            <a:avLst/>
          </a:prstGeom>
          <a:noFill/>
          <a:ln w="31750">
            <a:solidFill>
              <a:schemeClr val="accent5"/>
            </a:solidFill>
            <a:prstDash val="solid"/>
          </a:ln>
        </p:spPr>
      </p:sp>
      <p:sp>
        <p:nvSpPr>
          <p:cNvPr id="11" name="Shape 9"/>
          <p:cNvSpPr/>
          <p:nvPr/>
        </p:nvSpPr>
        <p:spPr>
          <a:xfrm>
            <a:off x="5943600" y="2103120"/>
            <a:ext cx="960120" cy="475488"/>
          </a:xfrm>
          <a:prstGeom prst="rect">
            <a:avLst/>
          </a:prstGeom>
          <a:solidFill>
            <a:schemeClr val="tx2"/>
          </a:solidFill>
          <a:ln/>
        </p:spPr>
      </p:sp>
      <p:sp>
        <p:nvSpPr>
          <p:cNvPr id="12" name="Shape 10"/>
          <p:cNvSpPr/>
          <p:nvPr/>
        </p:nvSpPr>
        <p:spPr>
          <a:xfrm>
            <a:off x="6931152" y="2240280"/>
            <a:ext cx="384048" cy="338328"/>
          </a:xfrm>
          <a:prstGeom prst="roundRect">
            <a:avLst>
              <a:gd name="adj" fmla="val 16216"/>
            </a:avLst>
          </a:prstGeom>
          <a:solidFill>
            <a:schemeClr val="tx2"/>
          </a:solidFill>
          <a:ln/>
        </p:spPr>
      </p:sp>
      <p:sp>
        <p:nvSpPr>
          <p:cNvPr id="13" name="Shape 11"/>
          <p:cNvSpPr/>
          <p:nvPr/>
        </p:nvSpPr>
        <p:spPr>
          <a:xfrm>
            <a:off x="7123176" y="2295144"/>
            <a:ext cx="128016" cy="109728"/>
          </a:xfrm>
          <a:prstGeom prst="rect">
            <a:avLst/>
          </a:prstGeom>
          <a:solidFill>
            <a:schemeClr val="bg1"/>
          </a:solidFill>
          <a:ln/>
        </p:spPr>
      </p:sp>
      <p:sp>
        <p:nvSpPr>
          <p:cNvPr id="14" name="Shape 12"/>
          <p:cNvSpPr/>
          <p:nvPr/>
        </p:nvSpPr>
        <p:spPr>
          <a:xfrm>
            <a:off x="6053328" y="2551176"/>
            <a:ext cx="173736" cy="173736"/>
          </a:xfrm>
          <a:prstGeom prst="ellipse">
            <a:avLst/>
          </a:prstGeom>
          <a:solidFill>
            <a:schemeClr val="tx1"/>
          </a:solidFill>
          <a:ln w="19050">
            <a:solidFill>
              <a:schemeClr val="bg1"/>
            </a:solidFill>
            <a:prstDash val="solid"/>
          </a:ln>
        </p:spPr>
      </p:sp>
      <p:sp>
        <p:nvSpPr>
          <p:cNvPr id="15" name="Shape 13"/>
          <p:cNvSpPr/>
          <p:nvPr/>
        </p:nvSpPr>
        <p:spPr>
          <a:xfrm>
            <a:off x="6565392" y="2551176"/>
            <a:ext cx="173736" cy="173736"/>
          </a:xfrm>
          <a:prstGeom prst="ellipse">
            <a:avLst/>
          </a:prstGeom>
          <a:solidFill>
            <a:schemeClr val="tx1"/>
          </a:solidFill>
          <a:ln w="19050">
            <a:solidFill>
              <a:schemeClr val="bg1"/>
            </a:solidFill>
            <a:prstDash val="solid"/>
          </a:ln>
        </p:spPr>
      </p:sp>
      <p:sp>
        <p:nvSpPr>
          <p:cNvPr id="16" name="Shape 14"/>
          <p:cNvSpPr/>
          <p:nvPr/>
        </p:nvSpPr>
        <p:spPr>
          <a:xfrm>
            <a:off x="7077456" y="2551176"/>
            <a:ext cx="173736" cy="173736"/>
          </a:xfrm>
          <a:prstGeom prst="ellipse">
            <a:avLst/>
          </a:prstGeom>
          <a:solidFill>
            <a:schemeClr val="tx1"/>
          </a:solidFill>
          <a:ln w="19050">
            <a:solidFill>
              <a:schemeClr val="bg1"/>
            </a:solidFill>
            <a:prstDash val="solid"/>
          </a:ln>
        </p:spPr>
      </p:sp>
      <p:sp>
        <p:nvSpPr>
          <p:cNvPr id="17" name="Shape 15"/>
          <p:cNvSpPr/>
          <p:nvPr/>
        </p:nvSpPr>
        <p:spPr>
          <a:xfrm>
            <a:off x="7443216" y="2743200"/>
            <a:ext cx="896112" cy="0"/>
          </a:xfrm>
          <a:prstGeom prst="line">
            <a:avLst/>
          </a:prstGeom>
          <a:noFill/>
          <a:ln w="31750">
            <a:solidFill>
              <a:schemeClr val="accent1"/>
            </a:solidFill>
            <a:prstDash val="dash"/>
          </a:ln>
        </p:spPr>
      </p:sp>
      <p:sp>
        <p:nvSpPr>
          <p:cNvPr id="18" name="Shape 16"/>
          <p:cNvSpPr/>
          <p:nvPr/>
        </p:nvSpPr>
        <p:spPr>
          <a:xfrm>
            <a:off x="8339328" y="2642616"/>
            <a:ext cx="201168" cy="201168"/>
          </a:xfrm>
          <a:prstGeom prst="ellipse">
            <a:avLst/>
          </a:prstGeom>
          <a:solidFill>
            <a:schemeClr val="bg1"/>
          </a:solidFill>
          <a:ln w="31750">
            <a:solidFill>
              <a:schemeClr val="accent1"/>
            </a:solidFill>
            <a:prstDash val="solid"/>
          </a:ln>
        </p:spPr>
      </p:sp>
      <p:sp>
        <p:nvSpPr>
          <p:cNvPr id="19" name="Shape 17"/>
          <p:cNvSpPr/>
          <p:nvPr/>
        </p:nvSpPr>
        <p:spPr>
          <a:xfrm>
            <a:off x="7680960" y="1783080"/>
            <a:ext cx="502920" cy="502920"/>
          </a:xfrm>
          <a:prstGeom prst="ellipse">
            <a:avLst/>
          </a:prstGeom>
          <a:solidFill>
            <a:schemeClr val="bg1"/>
          </a:solidFill>
          <a:ln w="25400">
            <a:solidFill>
              <a:schemeClr val="accent1"/>
            </a:solidFill>
            <a:prstDash val="solid"/>
          </a:ln>
        </p:spPr>
      </p:sp>
      <p:sp>
        <p:nvSpPr>
          <p:cNvPr id="20" name="Shape 18"/>
          <p:cNvSpPr/>
          <p:nvPr/>
        </p:nvSpPr>
        <p:spPr>
          <a:xfrm flipV="1">
            <a:off x="7932420" y="1883664"/>
            <a:ext cx="0" cy="150876"/>
          </a:xfrm>
          <a:prstGeom prst="line">
            <a:avLst/>
          </a:prstGeom>
          <a:noFill/>
          <a:ln w="25400">
            <a:solidFill>
              <a:schemeClr val="accent1"/>
            </a:solidFill>
            <a:prstDash val="solid"/>
          </a:ln>
        </p:spPr>
      </p:sp>
      <p:sp>
        <p:nvSpPr>
          <p:cNvPr id="21" name="Shape 19"/>
          <p:cNvSpPr/>
          <p:nvPr/>
        </p:nvSpPr>
        <p:spPr>
          <a:xfrm>
            <a:off x="7932420" y="2034540"/>
            <a:ext cx="120701" cy="0"/>
          </a:xfrm>
          <a:prstGeom prst="line">
            <a:avLst/>
          </a:prstGeom>
          <a:noFill/>
          <a:ln w="254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Problem Statement</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Spotting a late shipment is easy. Knowing what to do about it is not.</a:t>
            </a:r>
            <a:endParaRPr lang="en-US" sz="2600" dirty="0"/>
          </a:p>
        </p:txBody>
      </p:sp>
      <p:sp>
        <p:nvSpPr>
          <p:cNvPr id="4" name="Text 2"/>
          <p:cNvSpPr/>
          <p:nvPr/>
        </p:nvSpPr>
        <p:spPr>
          <a:xfrm>
            <a:off x="457200" y="2880360"/>
            <a:ext cx="1600200" cy="868680"/>
          </a:xfrm>
          <a:prstGeom prst="roundRect">
            <a:avLst>
              <a:gd name="adj" fmla="val 8421"/>
            </a:avLst>
          </a:prstGeom>
          <a:solidFill>
            <a:schemeClr val="tx2"/>
          </a:solidFill>
          <a:ln/>
        </p:spPr>
        <p:txBody>
          <a:bodyPr wrap="square" lIns="76200" tIns="76200" rIns="76200" bIns="76200" rtlCol="0" anchor="ctr"/>
          <a:lstStyle/>
          <a:p>
            <a:pPr algn="ctr" indent="0" marL="0">
              <a:buNone/>
            </a:pPr>
            <a:r>
              <a:rPr lang="en-US" sz="1500" b="1" dirty="0">
                <a:solidFill>
                  <a:schemeClr val="bg1"/>
                </a:solidFill>
              </a:rPr>
              <a:t>Delayed shipment</a:t>
            </a:r>
            <a:endParaRPr lang="en-US" sz="1500" dirty="0"/>
          </a:p>
        </p:txBody>
      </p:sp>
      <p:sp>
        <p:nvSpPr>
          <p:cNvPr id="5" name="Shape 3"/>
          <p:cNvSpPr/>
          <p:nvPr/>
        </p:nvSpPr>
        <p:spPr>
          <a:xfrm>
            <a:off x="1828800" y="2697480"/>
            <a:ext cx="365760" cy="365760"/>
          </a:xfrm>
          <a:prstGeom prst="ellipse">
            <a:avLst/>
          </a:prstGeom>
          <a:solidFill>
            <a:schemeClr val="bg1"/>
          </a:solidFill>
          <a:ln w="25400">
            <a:solidFill>
              <a:schemeClr val="accent1"/>
            </a:solidFill>
            <a:prstDash val="solid"/>
          </a:ln>
        </p:spPr>
      </p:sp>
      <p:sp>
        <p:nvSpPr>
          <p:cNvPr id="6" name="Shape 4"/>
          <p:cNvSpPr/>
          <p:nvPr/>
        </p:nvSpPr>
        <p:spPr>
          <a:xfrm flipV="1">
            <a:off x="2011680" y="2770632"/>
            <a:ext cx="0" cy="109728"/>
          </a:xfrm>
          <a:prstGeom prst="line">
            <a:avLst/>
          </a:prstGeom>
          <a:noFill/>
          <a:ln w="25400">
            <a:solidFill>
              <a:schemeClr val="accent1"/>
            </a:solidFill>
            <a:prstDash val="solid"/>
          </a:ln>
        </p:spPr>
      </p:sp>
      <p:sp>
        <p:nvSpPr>
          <p:cNvPr id="7" name="Shape 5"/>
          <p:cNvSpPr/>
          <p:nvPr/>
        </p:nvSpPr>
        <p:spPr>
          <a:xfrm>
            <a:off x="2011680" y="2880360"/>
            <a:ext cx="87782" cy="0"/>
          </a:xfrm>
          <a:prstGeom prst="line">
            <a:avLst/>
          </a:prstGeom>
          <a:noFill/>
          <a:ln w="25400">
            <a:solidFill>
              <a:schemeClr val="accent1"/>
            </a:solidFill>
            <a:prstDash val="solid"/>
          </a:ln>
        </p:spPr>
      </p:sp>
      <p:sp>
        <p:nvSpPr>
          <p:cNvPr id="8" name="Shape 6"/>
          <p:cNvSpPr/>
          <p:nvPr/>
        </p:nvSpPr>
        <p:spPr>
          <a:xfrm flipV="1">
            <a:off x="2057400" y="2286000"/>
            <a:ext cx="1161288" cy="1028700"/>
          </a:xfrm>
          <a:prstGeom prst="line">
            <a:avLst/>
          </a:prstGeom>
          <a:noFill/>
          <a:ln w="19050">
            <a:solidFill>
              <a:schemeClr val="accent5"/>
            </a:solidFill>
            <a:prstDash val="solid"/>
            <a:tailEnd type="triangle"/>
          </a:ln>
        </p:spPr>
      </p:sp>
      <p:sp>
        <p:nvSpPr>
          <p:cNvPr id="9" name="Text 7"/>
          <p:cNvSpPr/>
          <p:nvPr/>
        </p:nvSpPr>
        <p:spPr>
          <a:xfrm>
            <a:off x="3246120" y="2103120"/>
            <a:ext cx="1600200" cy="365760"/>
          </a:xfrm>
          <a:prstGeom prst="roundRect">
            <a:avLst>
              <a:gd name="adj" fmla="val 15000"/>
            </a:avLst>
          </a:prstGeom>
          <a:solidFill>
            <a:schemeClr val="bg2"/>
          </a:solidFill>
          <a:ln w="12700">
            <a:solidFill>
              <a:schemeClr val="accent3"/>
            </a:solidFill>
          </a:ln>
        </p:spPr>
        <p:txBody>
          <a:bodyPr wrap="square" lIns="114300" tIns="114300" rIns="114300" bIns="114300" rtlCol="0" anchor="ctr"/>
          <a:lstStyle/>
          <a:p>
            <a:pPr algn="l" indent="0" marL="0">
              <a:buNone/>
            </a:pPr>
            <a:r>
              <a:rPr lang="en-US" sz="1400" dirty="0">
                <a:solidFill>
                  <a:schemeClr val="tx1"/>
                </a:solidFill>
              </a:rPr>
              <a:t>Order</a:t>
            </a:r>
            <a:endParaRPr lang="en-US" sz="1400" dirty="0"/>
          </a:p>
        </p:txBody>
      </p:sp>
      <p:sp>
        <p:nvSpPr>
          <p:cNvPr id="10" name="Text 8"/>
          <p:cNvSpPr/>
          <p:nvPr/>
        </p:nvSpPr>
        <p:spPr>
          <a:xfrm>
            <a:off x="4507992" y="2157984"/>
            <a:ext cx="256032" cy="25603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Shape 9"/>
          <p:cNvSpPr/>
          <p:nvPr/>
        </p:nvSpPr>
        <p:spPr>
          <a:xfrm flipV="1">
            <a:off x="2057400" y="2800350"/>
            <a:ext cx="1161288" cy="514350"/>
          </a:xfrm>
          <a:prstGeom prst="line">
            <a:avLst/>
          </a:prstGeom>
          <a:noFill/>
          <a:ln w="19050">
            <a:solidFill>
              <a:schemeClr val="accent5"/>
            </a:solidFill>
            <a:prstDash val="solid"/>
            <a:tailEnd type="triangle"/>
          </a:ln>
        </p:spPr>
      </p:sp>
      <p:sp>
        <p:nvSpPr>
          <p:cNvPr id="12" name="Text 10"/>
          <p:cNvSpPr/>
          <p:nvPr/>
        </p:nvSpPr>
        <p:spPr>
          <a:xfrm>
            <a:off x="3246120" y="2617470"/>
            <a:ext cx="1600200" cy="365760"/>
          </a:xfrm>
          <a:prstGeom prst="roundRect">
            <a:avLst>
              <a:gd name="adj" fmla="val 15000"/>
            </a:avLst>
          </a:prstGeom>
          <a:solidFill>
            <a:schemeClr val="bg2"/>
          </a:solidFill>
          <a:ln w="12700">
            <a:solidFill>
              <a:schemeClr val="accent3"/>
            </a:solidFill>
          </a:ln>
        </p:spPr>
        <p:txBody>
          <a:bodyPr wrap="square" lIns="114300" tIns="114300" rIns="114300" bIns="114300" rtlCol="0" anchor="ctr"/>
          <a:lstStyle/>
          <a:p>
            <a:pPr algn="l" indent="0" marL="0">
              <a:buNone/>
            </a:pPr>
            <a:r>
              <a:rPr lang="en-US" sz="1400" dirty="0">
                <a:solidFill>
                  <a:schemeClr val="tx1"/>
                </a:solidFill>
              </a:rPr>
              <a:t>Order</a:t>
            </a:r>
            <a:endParaRPr lang="en-US" sz="1400" dirty="0"/>
          </a:p>
        </p:txBody>
      </p:sp>
      <p:sp>
        <p:nvSpPr>
          <p:cNvPr id="13" name="Text 11"/>
          <p:cNvSpPr/>
          <p:nvPr/>
        </p:nvSpPr>
        <p:spPr>
          <a:xfrm>
            <a:off x="4507992" y="2672334"/>
            <a:ext cx="256032" cy="25603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4" name="Shape 12"/>
          <p:cNvSpPr/>
          <p:nvPr/>
        </p:nvSpPr>
        <p:spPr>
          <a:xfrm>
            <a:off x="2057400" y="3314700"/>
            <a:ext cx="1161288" cy="0"/>
          </a:xfrm>
          <a:prstGeom prst="line">
            <a:avLst/>
          </a:prstGeom>
          <a:noFill/>
          <a:ln w="19050">
            <a:solidFill>
              <a:schemeClr val="accent5"/>
            </a:solidFill>
            <a:prstDash val="solid"/>
            <a:tailEnd type="triangle"/>
          </a:ln>
        </p:spPr>
      </p:sp>
      <p:sp>
        <p:nvSpPr>
          <p:cNvPr id="15" name="Text 13"/>
          <p:cNvSpPr/>
          <p:nvPr/>
        </p:nvSpPr>
        <p:spPr>
          <a:xfrm>
            <a:off x="3246120" y="3131820"/>
            <a:ext cx="1600200" cy="365760"/>
          </a:xfrm>
          <a:prstGeom prst="roundRect">
            <a:avLst>
              <a:gd name="adj" fmla="val 15000"/>
            </a:avLst>
          </a:prstGeom>
          <a:solidFill>
            <a:schemeClr val="bg2"/>
          </a:solidFill>
          <a:ln w="12700">
            <a:solidFill>
              <a:schemeClr val="accent3"/>
            </a:solidFill>
          </a:ln>
        </p:spPr>
        <p:txBody>
          <a:bodyPr wrap="square" lIns="114300" tIns="114300" rIns="114300" bIns="114300" rtlCol="0" anchor="ctr"/>
          <a:lstStyle/>
          <a:p>
            <a:pPr algn="l" indent="0" marL="0">
              <a:buNone/>
            </a:pPr>
            <a:r>
              <a:rPr lang="en-US" sz="1400" dirty="0">
                <a:solidFill>
                  <a:schemeClr val="tx1"/>
                </a:solidFill>
              </a:rPr>
              <a:t>Order</a:t>
            </a:r>
            <a:endParaRPr lang="en-US" sz="1400" dirty="0"/>
          </a:p>
        </p:txBody>
      </p:sp>
      <p:sp>
        <p:nvSpPr>
          <p:cNvPr id="16" name="Text 14"/>
          <p:cNvSpPr/>
          <p:nvPr/>
        </p:nvSpPr>
        <p:spPr>
          <a:xfrm>
            <a:off x="4507992" y="3186684"/>
            <a:ext cx="256032" cy="25603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7" name="Shape 15"/>
          <p:cNvSpPr/>
          <p:nvPr/>
        </p:nvSpPr>
        <p:spPr>
          <a:xfrm>
            <a:off x="2057400" y="3314700"/>
            <a:ext cx="1161288" cy="514350"/>
          </a:xfrm>
          <a:prstGeom prst="line">
            <a:avLst/>
          </a:prstGeom>
          <a:noFill/>
          <a:ln w="19050">
            <a:solidFill>
              <a:schemeClr val="accent5"/>
            </a:solidFill>
            <a:prstDash val="solid"/>
            <a:tailEnd type="triangle"/>
          </a:ln>
        </p:spPr>
      </p:sp>
      <p:sp>
        <p:nvSpPr>
          <p:cNvPr id="18" name="Text 16"/>
          <p:cNvSpPr/>
          <p:nvPr/>
        </p:nvSpPr>
        <p:spPr>
          <a:xfrm>
            <a:off x="3246120" y="3646170"/>
            <a:ext cx="1600200" cy="365760"/>
          </a:xfrm>
          <a:prstGeom prst="roundRect">
            <a:avLst>
              <a:gd name="adj" fmla="val 15000"/>
            </a:avLst>
          </a:prstGeom>
          <a:solidFill>
            <a:schemeClr val="bg2"/>
          </a:solidFill>
          <a:ln w="12700">
            <a:solidFill>
              <a:schemeClr val="accent3"/>
            </a:solidFill>
          </a:ln>
        </p:spPr>
        <p:txBody>
          <a:bodyPr wrap="square" lIns="114300" tIns="114300" rIns="114300" bIns="114300" rtlCol="0" anchor="ctr"/>
          <a:lstStyle/>
          <a:p>
            <a:pPr algn="l" indent="0" marL="0">
              <a:buNone/>
            </a:pPr>
            <a:r>
              <a:rPr lang="en-US" sz="1400" dirty="0">
                <a:solidFill>
                  <a:schemeClr val="tx1"/>
                </a:solidFill>
              </a:rPr>
              <a:t>Order</a:t>
            </a:r>
            <a:endParaRPr lang="en-US" sz="1400" dirty="0"/>
          </a:p>
        </p:txBody>
      </p:sp>
      <p:sp>
        <p:nvSpPr>
          <p:cNvPr id="19" name="Text 17"/>
          <p:cNvSpPr/>
          <p:nvPr/>
        </p:nvSpPr>
        <p:spPr>
          <a:xfrm>
            <a:off x="4507992" y="3701034"/>
            <a:ext cx="256032" cy="25603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0" name="Shape 18"/>
          <p:cNvSpPr/>
          <p:nvPr/>
        </p:nvSpPr>
        <p:spPr>
          <a:xfrm>
            <a:off x="2057400" y="3314700"/>
            <a:ext cx="1161288" cy="1028700"/>
          </a:xfrm>
          <a:prstGeom prst="line">
            <a:avLst/>
          </a:prstGeom>
          <a:noFill/>
          <a:ln w="19050">
            <a:solidFill>
              <a:schemeClr val="accent5"/>
            </a:solidFill>
            <a:prstDash val="solid"/>
            <a:tailEnd type="triangle"/>
          </a:ln>
        </p:spPr>
      </p:sp>
      <p:sp>
        <p:nvSpPr>
          <p:cNvPr id="21" name="Text 19"/>
          <p:cNvSpPr/>
          <p:nvPr/>
        </p:nvSpPr>
        <p:spPr>
          <a:xfrm>
            <a:off x="3246120" y="4160520"/>
            <a:ext cx="1600200" cy="365760"/>
          </a:xfrm>
          <a:prstGeom prst="roundRect">
            <a:avLst>
              <a:gd name="adj" fmla="val 15000"/>
            </a:avLst>
          </a:prstGeom>
          <a:solidFill>
            <a:schemeClr val="bg2"/>
          </a:solidFill>
          <a:ln w="12700">
            <a:solidFill>
              <a:schemeClr val="accent3"/>
            </a:solidFill>
          </a:ln>
        </p:spPr>
        <p:txBody>
          <a:bodyPr wrap="square" lIns="114300" tIns="114300" rIns="114300" bIns="114300" rtlCol="0" anchor="ctr"/>
          <a:lstStyle/>
          <a:p>
            <a:pPr algn="l" indent="0" marL="0">
              <a:buNone/>
            </a:pPr>
            <a:r>
              <a:rPr lang="en-US" sz="1400" dirty="0">
                <a:solidFill>
                  <a:schemeClr val="tx1"/>
                </a:solidFill>
              </a:rPr>
              <a:t>Order</a:t>
            </a:r>
            <a:endParaRPr lang="en-US" sz="1400" dirty="0"/>
          </a:p>
        </p:txBody>
      </p:sp>
      <p:sp>
        <p:nvSpPr>
          <p:cNvPr id="22" name="Text 20"/>
          <p:cNvSpPr/>
          <p:nvPr/>
        </p:nvSpPr>
        <p:spPr>
          <a:xfrm>
            <a:off x="4507992" y="4215384"/>
            <a:ext cx="256032" cy="256032"/>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Text 21"/>
          <p:cNvSpPr txBox="1"/>
          <p:nvPr/>
        </p:nvSpPr>
        <p:spPr>
          <a:xfrm>
            <a:off x="5486400" y="2331720"/>
            <a:ext cx="3200400" cy="502920"/>
          </a:xfrm>
          <a:prstGeom prst="rect">
            <a:avLst/>
          </a:prstGeom>
          <a:noFill/>
          <a:ln/>
        </p:spPr>
        <p:txBody>
          <a:bodyPr wrap="square" lIns="0" tIns="0" rIns="0" bIns="0" rtlCol="0" anchor="ctr"/>
          <a:lstStyle/>
          <a:p>
            <a:pPr indent="0" marL="0">
              <a:buNone/>
            </a:pPr>
            <a:r>
              <a:rPr lang="en-US" sz="2000" b="1" dirty="0">
                <a:solidFill>
                  <a:schemeClr val="tx1"/>
                </a:solidFill>
              </a:rPr>
              <a:t>Which orders are affected?</a:t>
            </a:r>
            <a:endParaRPr lang="en-US" sz="2000" dirty="0"/>
          </a:p>
        </p:txBody>
      </p:sp>
      <p:sp>
        <p:nvSpPr>
          <p:cNvPr id="24" name="Text 22"/>
          <p:cNvSpPr txBox="1"/>
          <p:nvPr/>
        </p:nvSpPr>
        <p:spPr>
          <a:xfrm>
            <a:off x="5486400" y="3017520"/>
            <a:ext cx="3200400" cy="502920"/>
          </a:xfrm>
          <a:prstGeom prst="rect">
            <a:avLst/>
          </a:prstGeom>
          <a:noFill/>
          <a:ln/>
        </p:spPr>
        <p:txBody>
          <a:bodyPr wrap="square" lIns="0" tIns="0" rIns="0" bIns="0" rtlCol="0" anchor="ctr"/>
          <a:lstStyle/>
          <a:p>
            <a:pPr indent="0" marL="0">
              <a:buNone/>
            </a:pPr>
            <a:r>
              <a:rPr lang="en-US" sz="2000" b="1" dirty="0">
                <a:solidFill>
                  <a:schemeClr val="tx1"/>
                </a:solidFill>
              </a:rPr>
              <a:t>How serious is it?</a:t>
            </a:r>
            <a:endParaRPr lang="en-US" sz="2000" dirty="0"/>
          </a:p>
        </p:txBody>
      </p:sp>
      <p:sp>
        <p:nvSpPr>
          <p:cNvPr id="25" name="Text 23"/>
          <p:cNvSpPr txBox="1"/>
          <p:nvPr/>
        </p:nvSpPr>
        <p:spPr>
          <a:xfrm>
            <a:off x="5486400" y="3703320"/>
            <a:ext cx="3200400" cy="502920"/>
          </a:xfrm>
          <a:prstGeom prst="rect">
            <a:avLst/>
          </a:prstGeom>
          <a:noFill/>
          <a:ln/>
        </p:spPr>
        <p:txBody>
          <a:bodyPr wrap="square" lIns="0" tIns="0" rIns="0" bIns="0" rtlCol="0" anchor="ctr"/>
          <a:lstStyle/>
          <a:p>
            <a:pPr indent="0" marL="0">
              <a:buNone/>
            </a:pPr>
            <a:r>
              <a:rPr lang="en-US" sz="2000" b="1" dirty="0">
                <a:solidFill>
                  <a:schemeClr val="tx1"/>
                </a:solidFill>
              </a:rPr>
              <a:t>What should we do?</a:t>
            </a:r>
            <a:endParaRPr lang="en-US" sz="2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Solution Overview</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One alert in, one approved recovery plan out.</a:t>
            </a:r>
            <a:endParaRPr lang="en-US" sz="2600" dirty="0"/>
          </a:p>
        </p:txBody>
      </p:sp>
      <p:sp>
        <p:nvSpPr>
          <p:cNvPr id="4" name="Text 2"/>
          <p:cNvSpPr txBox="1"/>
          <p:nvPr/>
        </p:nvSpPr>
        <p:spPr>
          <a:xfrm>
            <a:off x="457200" y="1737360"/>
            <a:ext cx="8229600" cy="365760"/>
          </a:xfrm>
          <a:prstGeom prst="rect">
            <a:avLst/>
          </a:prstGeom>
          <a:noFill/>
          <a:ln/>
        </p:spPr>
        <p:txBody>
          <a:bodyPr wrap="square" lIns="0" tIns="0" rIns="0" bIns="0" rtlCol="0" anchor="t"/>
          <a:lstStyle/>
          <a:p>
            <a:pPr indent="0" marL="0">
              <a:buNone/>
            </a:pPr>
            <a:r>
              <a:rPr lang="en-US" sz="1600" dirty="0">
                <a:solidFill>
                  <a:schemeClr val="tx1"/>
                </a:solidFill>
              </a:rPr>
              <a:t>DisruptionIQ finds the damage, ranks the orders and proposes safe fixes for a human to approve.</a:t>
            </a:r>
            <a:endParaRPr lang="en-US" sz="1600" dirty="0"/>
          </a:p>
        </p:txBody>
      </p:sp>
      <p:sp>
        <p:nvSpPr>
          <p:cNvPr id="5" name="Shape 3"/>
          <p:cNvSpPr/>
          <p:nvPr/>
        </p:nvSpPr>
        <p:spPr>
          <a:xfrm>
            <a:off x="457200" y="2468880"/>
            <a:ext cx="2496312" cy="2057400"/>
          </a:xfrm>
          <a:prstGeom prst="roundRect">
            <a:avLst>
              <a:gd name="adj" fmla="val 4444"/>
            </a:avLst>
          </a:prstGeom>
          <a:solidFill>
            <a:schemeClr val="bg2"/>
          </a:solidFill>
          <a:ln w="12700">
            <a:solidFill>
              <a:schemeClr val="accent3"/>
            </a:solidFill>
            <a:prstDash val="solid"/>
          </a:ln>
        </p:spPr>
      </p:sp>
      <p:sp>
        <p:nvSpPr>
          <p:cNvPr id="6" name="Text 4"/>
          <p:cNvSpPr txBox="1"/>
          <p:nvPr/>
        </p:nvSpPr>
        <p:spPr>
          <a:xfrm>
            <a:off x="713232" y="2724912"/>
            <a:ext cx="2039112" cy="105156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Rules</a:t>
            </a:r>
            <a:endParaRPr lang="en-US" sz="3200" dirty="0"/>
          </a:p>
          <a:p>
            <a:pPr indent="0" marL="0">
              <a:buNone/>
            </a:pPr>
            <a:r>
              <a:rPr lang="en-US" sz="3200" dirty="0">
                <a:solidFill>
                  <a:schemeClr val="tx1"/>
                </a:solidFill>
                <a:latin typeface="+mj-lt" pitchFamily="34" charset="0"/>
                <a:ea typeface="+mj-lt" pitchFamily="34" charset="-122"/>
                <a:cs typeface="+mj-lt" pitchFamily="34" charset="-120"/>
              </a:rPr>
              <a:t>decide</a:t>
            </a:r>
            <a:endParaRPr lang="en-US" sz="3200" dirty="0"/>
          </a:p>
        </p:txBody>
      </p:sp>
      <p:sp>
        <p:nvSpPr>
          <p:cNvPr id="7" name="Text 5"/>
          <p:cNvSpPr txBox="1"/>
          <p:nvPr/>
        </p:nvSpPr>
        <p:spPr>
          <a:xfrm>
            <a:off x="713232" y="3840480"/>
            <a:ext cx="2039112" cy="457200"/>
          </a:xfrm>
          <a:prstGeom prst="rect">
            <a:avLst/>
          </a:prstGeom>
          <a:noFill/>
          <a:ln/>
        </p:spPr>
        <p:txBody>
          <a:bodyPr wrap="square" lIns="0" tIns="0" rIns="0" bIns="0" rtlCol="0" anchor="b"/>
          <a:lstStyle/>
          <a:p>
            <a:pPr indent="0" marL="0">
              <a:buNone/>
            </a:pPr>
            <a:r>
              <a:rPr lang="en-US" sz="1600" dirty="0">
                <a:solidFill>
                  <a:schemeClr val="tx1"/>
                </a:solidFill>
              </a:rPr>
              <a:t>Stock, deadlines, permissions</a:t>
            </a:r>
            <a:endParaRPr lang="en-US" sz="1600" dirty="0"/>
          </a:p>
        </p:txBody>
      </p:sp>
      <p:sp>
        <p:nvSpPr>
          <p:cNvPr id="8" name="Shape 6"/>
          <p:cNvSpPr/>
          <p:nvPr/>
        </p:nvSpPr>
        <p:spPr>
          <a:xfrm>
            <a:off x="3017520" y="3497580"/>
            <a:ext cx="237744" cy="0"/>
          </a:xfrm>
          <a:prstGeom prst="line">
            <a:avLst/>
          </a:prstGeom>
          <a:noFill/>
          <a:ln w="25400">
            <a:solidFill>
              <a:schemeClr val="accent5"/>
            </a:solidFill>
            <a:prstDash val="solid"/>
            <a:tailEnd type="triangle"/>
          </a:ln>
        </p:spPr>
      </p:sp>
      <p:sp>
        <p:nvSpPr>
          <p:cNvPr id="9" name="Shape 7"/>
          <p:cNvSpPr/>
          <p:nvPr/>
        </p:nvSpPr>
        <p:spPr>
          <a:xfrm>
            <a:off x="3319272" y="2468880"/>
            <a:ext cx="2496312" cy="2057400"/>
          </a:xfrm>
          <a:prstGeom prst="roundRect">
            <a:avLst>
              <a:gd name="adj" fmla="val 4444"/>
            </a:avLst>
          </a:prstGeom>
          <a:solidFill>
            <a:schemeClr val="accent1"/>
          </a:solidFill>
          <a:ln/>
        </p:spPr>
      </p:sp>
      <p:sp>
        <p:nvSpPr>
          <p:cNvPr id="10" name="Text 8"/>
          <p:cNvSpPr txBox="1"/>
          <p:nvPr/>
        </p:nvSpPr>
        <p:spPr>
          <a:xfrm>
            <a:off x="3575304" y="2724912"/>
            <a:ext cx="2039112" cy="1051560"/>
          </a:xfrm>
          <a:prstGeom prst="rect">
            <a:avLst/>
          </a:prstGeom>
          <a:noFill/>
          <a:ln/>
        </p:spPr>
        <p:txBody>
          <a:bodyPr wrap="square" lIns="0" tIns="0" rIns="0" bIns="0" rtlCol="0" anchor="t"/>
          <a:lstStyle/>
          <a:p>
            <a:pPr indent="0" marL="0">
              <a:buNone/>
            </a:pPr>
            <a:r>
              <a:rPr lang="en-US" sz="3200" b="1" dirty="0">
                <a:solidFill>
                  <a:schemeClr val="bg1"/>
                </a:solidFill>
                <a:latin typeface="+mj-lt" pitchFamily="34" charset="0"/>
                <a:ea typeface="+mj-lt" pitchFamily="34" charset="-122"/>
                <a:cs typeface="+mj-lt" pitchFamily="34" charset="-120"/>
              </a:rPr>
              <a:t>AI</a:t>
            </a:r>
            <a:endParaRPr lang="en-US" sz="3200" dirty="0"/>
          </a:p>
          <a:p>
            <a:pPr indent="0" marL="0">
              <a:buNone/>
            </a:pPr>
            <a:r>
              <a:rPr lang="en-US" sz="3200" dirty="0">
                <a:solidFill>
                  <a:schemeClr val="bg1"/>
                </a:solidFill>
                <a:latin typeface="+mj-lt" pitchFamily="34" charset="0"/>
                <a:ea typeface="+mj-lt" pitchFamily="34" charset="-122"/>
                <a:cs typeface="+mj-lt" pitchFamily="34" charset="-120"/>
              </a:rPr>
              <a:t>advises</a:t>
            </a:r>
            <a:endParaRPr lang="en-US" sz="3200" dirty="0"/>
          </a:p>
        </p:txBody>
      </p:sp>
      <p:sp>
        <p:nvSpPr>
          <p:cNvPr id="11" name="Text 9"/>
          <p:cNvSpPr txBox="1"/>
          <p:nvPr/>
        </p:nvSpPr>
        <p:spPr>
          <a:xfrm>
            <a:off x="3575304" y="3840480"/>
            <a:ext cx="2039112" cy="457200"/>
          </a:xfrm>
          <a:prstGeom prst="rect">
            <a:avLst/>
          </a:prstGeom>
          <a:noFill/>
          <a:ln/>
        </p:spPr>
        <p:txBody>
          <a:bodyPr wrap="square" lIns="0" tIns="0" rIns="0" bIns="0" rtlCol="0" anchor="b"/>
          <a:lstStyle/>
          <a:p>
            <a:pPr indent="0" marL="0">
              <a:buNone/>
            </a:pPr>
            <a:r>
              <a:rPr lang="en-US" sz="1600" dirty="0">
                <a:solidFill>
                  <a:schemeClr val="bg1"/>
                </a:solidFill>
              </a:rPr>
              <a:t>Summaries, explanations</a:t>
            </a:r>
            <a:endParaRPr lang="en-US" sz="1600" dirty="0"/>
          </a:p>
        </p:txBody>
      </p:sp>
      <p:sp>
        <p:nvSpPr>
          <p:cNvPr id="12" name="Shape 10"/>
          <p:cNvSpPr/>
          <p:nvPr/>
        </p:nvSpPr>
        <p:spPr>
          <a:xfrm>
            <a:off x="5879592" y="3497580"/>
            <a:ext cx="237744" cy="0"/>
          </a:xfrm>
          <a:prstGeom prst="line">
            <a:avLst/>
          </a:prstGeom>
          <a:noFill/>
          <a:ln w="25400">
            <a:solidFill>
              <a:schemeClr val="accent5"/>
            </a:solidFill>
            <a:prstDash val="solid"/>
            <a:tailEnd type="triangle"/>
          </a:ln>
        </p:spPr>
      </p:sp>
      <p:sp>
        <p:nvSpPr>
          <p:cNvPr id="13" name="Shape 11"/>
          <p:cNvSpPr/>
          <p:nvPr/>
        </p:nvSpPr>
        <p:spPr>
          <a:xfrm>
            <a:off x="6181344" y="2468880"/>
            <a:ext cx="2496312" cy="2057400"/>
          </a:xfrm>
          <a:prstGeom prst="roundRect">
            <a:avLst>
              <a:gd name="adj" fmla="val 4444"/>
            </a:avLst>
          </a:prstGeom>
          <a:solidFill>
            <a:schemeClr val="tx2"/>
          </a:solidFill>
          <a:ln/>
        </p:spPr>
      </p:sp>
      <p:sp>
        <p:nvSpPr>
          <p:cNvPr id="14" name="Text 12"/>
          <p:cNvSpPr txBox="1"/>
          <p:nvPr/>
        </p:nvSpPr>
        <p:spPr>
          <a:xfrm>
            <a:off x="6437376" y="2724912"/>
            <a:ext cx="2039112" cy="1051560"/>
          </a:xfrm>
          <a:prstGeom prst="rect">
            <a:avLst/>
          </a:prstGeom>
          <a:noFill/>
          <a:ln/>
        </p:spPr>
        <p:txBody>
          <a:bodyPr wrap="square" lIns="0" tIns="0" rIns="0" bIns="0" rtlCol="0" anchor="t"/>
          <a:lstStyle/>
          <a:p>
            <a:pPr indent="0" marL="0">
              <a:buNone/>
            </a:pPr>
            <a:r>
              <a:rPr lang="en-US" sz="3200" b="1" dirty="0">
                <a:solidFill>
                  <a:schemeClr val="bg1"/>
                </a:solidFill>
                <a:latin typeface="+mj-lt" pitchFamily="34" charset="0"/>
                <a:ea typeface="+mj-lt" pitchFamily="34" charset="-122"/>
                <a:cs typeface="+mj-lt" pitchFamily="34" charset="-120"/>
              </a:rPr>
              <a:t>Humans</a:t>
            </a:r>
            <a:endParaRPr lang="en-US" sz="3200" dirty="0"/>
          </a:p>
          <a:p>
            <a:pPr indent="0" marL="0">
              <a:buNone/>
            </a:pPr>
            <a:r>
              <a:rPr lang="en-US" sz="3200" dirty="0">
                <a:solidFill>
                  <a:schemeClr val="bg1"/>
                </a:solidFill>
                <a:latin typeface="+mj-lt" pitchFamily="34" charset="0"/>
                <a:ea typeface="+mj-lt" pitchFamily="34" charset="-122"/>
                <a:cs typeface="+mj-lt" pitchFamily="34" charset="-120"/>
              </a:rPr>
              <a:t>approve</a:t>
            </a:r>
            <a:endParaRPr lang="en-US" sz="3200" dirty="0"/>
          </a:p>
        </p:txBody>
      </p:sp>
      <p:sp>
        <p:nvSpPr>
          <p:cNvPr id="15" name="Text 13"/>
          <p:cNvSpPr txBox="1"/>
          <p:nvPr/>
        </p:nvSpPr>
        <p:spPr>
          <a:xfrm>
            <a:off x="6437376" y="3840480"/>
            <a:ext cx="2039112" cy="457200"/>
          </a:xfrm>
          <a:prstGeom prst="rect">
            <a:avLst/>
          </a:prstGeom>
          <a:noFill/>
          <a:ln/>
        </p:spPr>
        <p:txBody>
          <a:bodyPr wrap="square" lIns="0" tIns="0" rIns="0" bIns="0" rtlCol="0" anchor="b"/>
          <a:lstStyle/>
          <a:p>
            <a:pPr indent="0" marL="0">
              <a:buNone/>
            </a:pPr>
            <a:r>
              <a:rPr lang="en-US" sz="1600" dirty="0">
                <a:solidFill>
                  <a:schemeClr val="bg1"/>
                </a:solidFill>
              </a:rPr>
              <a:t>Final say</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Eight steps from delay to audit trail.</a:t>
            </a:r>
            <a:endParaRPr lang="en-US" sz="2600" dirty="0"/>
          </a:p>
        </p:txBody>
      </p:sp>
      <p:sp>
        <p:nvSpPr>
          <p:cNvPr id="4" name="Text 2"/>
          <p:cNvSpPr txBox="1"/>
          <p:nvPr/>
        </p:nvSpPr>
        <p:spPr>
          <a:xfrm>
            <a:off x="457200" y="2185416"/>
            <a:ext cx="896112" cy="237744"/>
          </a:xfrm>
          <a:prstGeom prst="rect">
            <a:avLst/>
          </a:prstGeom>
          <a:noFill/>
          <a:ln/>
        </p:spPr>
        <p:txBody>
          <a:bodyPr wrap="square" lIns="0" tIns="0" rIns="0" bIns="0" rtlCol="0" anchor="t"/>
          <a:lstStyle/>
          <a:p>
            <a:pPr algn="ctr" indent="0" marL="0">
              <a:buNone/>
            </a:pPr>
            <a:r>
              <a:rPr lang="en-US" sz="1200" b="1" dirty="0">
                <a:solidFill>
                  <a:schemeClr val="accent2"/>
                </a:solidFill>
              </a:rPr>
              <a:t>1</a:t>
            </a:r>
            <a:endParaRPr lang="en-US" sz="1200" dirty="0"/>
          </a:p>
        </p:txBody>
      </p:sp>
      <p:sp>
        <p:nvSpPr>
          <p:cNvPr id="5" name="Text 3"/>
          <p:cNvSpPr/>
          <p:nvPr/>
        </p:nvSpPr>
        <p:spPr>
          <a:xfrm>
            <a:off x="457200" y="2514600"/>
            <a:ext cx="896112" cy="1143000"/>
          </a:xfrm>
          <a:prstGeom prst="roundRect">
            <a:avLst>
              <a:gd name="adj" fmla="val 8163"/>
            </a:avLst>
          </a:prstGeom>
          <a:solidFill>
            <a:schemeClr val="bg2"/>
          </a:solidFill>
          <a:ln w="12700">
            <a:solidFill>
              <a:schemeClr val="accent3"/>
            </a:solidFill>
          </a:ln>
        </p:spPr>
        <p:txBody>
          <a:bodyPr wrap="square" lIns="38100" tIns="38100" rIns="38100" bIns="38100" rtlCol="0" anchor="ctr"/>
          <a:lstStyle/>
          <a:p>
            <a:pPr algn="ctr" indent="0" marL="0">
              <a:buNone/>
            </a:pPr>
            <a:r>
              <a:rPr lang="en-US" sz="1300" b="1" dirty="0">
                <a:solidFill>
                  <a:schemeClr val="tx1"/>
                </a:solidFill>
              </a:rPr>
              <a:t>Event arrives</a:t>
            </a:r>
            <a:endParaRPr lang="en-US" sz="1300" dirty="0"/>
          </a:p>
        </p:txBody>
      </p:sp>
      <p:sp>
        <p:nvSpPr>
          <p:cNvPr id="6" name="Shape 4"/>
          <p:cNvSpPr/>
          <p:nvPr/>
        </p:nvSpPr>
        <p:spPr>
          <a:xfrm>
            <a:off x="1367028" y="3086100"/>
            <a:ext cx="124097" cy="0"/>
          </a:xfrm>
          <a:prstGeom prst="line">
            <a:avLst/>
          </a:prstGeom>
          <a:noFill/>
          <a:ln w="19050">
            <a:solidFill>
              <a:schemeClr val="accent5"/>
            </a:solidFill>
            <a:prstDash val="solid"/>
            <a:tailEnd type="triangle"/>
          </a:ln>
        </p:spPr>
      </p:sp>
      <p:sp>
        <p:nvSpPr>
          <p:cNvPr id="7" name="Text 5"/>
          <p:cNvSpPr txBox="1"/>
          <p:nvPr/>
        </p:nvSpPr>
        <p:spPr>
          <a:xfrm>
            <a:off x="1504841" y="2185416"/>
            <a:ext cx="896112" cy="237744"/>
          </a:xfrm>
          <a:prstGeom prst="rect">
            <a:avLst/>
          </a:prstGeom>
          <a:noFill/>
          <a:ln/>
        </p:spPr>
        <p:txBody>
          <a:bodyPr wrap="square" lIns="0" tIns="0" rIns="0" bIns="0" rtlCol="0" anchor="t"/>
          <a:lstStyle/>
          <a:p>
            <a:pPr algn="ctr" indent="0" marL="0">
              <a:buNone/>
            </a:pPr>
            <a:r>
              <a:rPr lang="en-US" sz="1200" b="1" dirty="0">
                <a:solidFill>
                  <a:schemeClr val="accent2"/>
                </a:solidFill>
              </a:rPr>
              <a:t>2</a:t>
            </a:r>
            <a:endParaRPr lang="en-US" sz="1200" dirty="0"/>
          </a:p>
        </p:txBody>
      </p:sp>
      <p:sp>
        <p:nvSpPr>
          <p:cNvPr id="8" name="Text 6"/>
          <p:cNvSpPr/>
          <p:nvPr/>
        </p:nvSpPr>
        <p:spPr>
          <a:xfrm>
            <a:off x="1504841" y="2514600"/>
            <a:ext cx="896112" cy="1143000"/>
          </a:xfrm>
          <a:prstGeom prst="roundRect">
            <a:avLst>
              <a:gd name="adj" fmla="val 8163"/>
            </a:avLst>
          </a:prstGeom>
          <a:solidFill>
            <a:schemeClr val="bg2"/>
          </a:solidFill>
          <a:ln w="12700">
            <a:solidFill>
              <a:schemeClr val="accent3"/>
            </a:solidFill>
          </a:ln>
        </p:spPr>
        <p:txBody>
          <a:bodyPr wrap="square" lIns="38100" tIns="38100" rIns="38100" bIns="38100" rtlCol="0" anchor="ctr"/>
          <a:lstStyle/>
          <a:p>
            <a:pPr algn="ctr" indent="0" marL="0">
              <a:buNone/>
            </a:pPr>
            <a:r>
              <a:rPr lang="en-US" sz="1300" b="1" dirty="0">
                <a:solidFill>
                  <a:schemeClr val="tx1"/>
                </a:solidFill>
              </a:rPr>
              <a:t>Detect</a:t>
            </a:r>
            <a:endParaRPr lang="en-US" sz="1300" dirty="0"/>
          </a:p>
        </p:txBody>
      </p:sp>
      <p:sp>
        <p:nvSpPr>
          <p:cNvPr id="9" name="Shape 7"/>
          <p:cNvSpPr/>
          <p:nvPr/>
        </p:nvSpPr>
        <p:spPr>
          <a:xfrm>
            <a:off x="2414669" y="3086100"/>
            <a:ext cx="124097" cy="0"/>
          </a:xfrm>
          <a:prstGeom prst="line">
            <a:avLst/>
          </a:prstGeom>
          <a:noFill/>
          <a:ln w="19050">
            <a:solidFill>
              <a:schemeClr val="accent5"/>
            </a:solidFill>
            <a:prstDash val="solid"/>
            <a:tailEnd type="triangle"/>
          </a:ln>
        </p:spPr>
      </p:sp>
      <p:sp>
        <p:nvSpPr>
          <p:cNvPr id="10" name="Text 8"/>
          <p:cNvSpPr txBox="1"/>
          <p:nvPr/>
        </p:nvSpPr>
        <p:spPr>
          <a:xfrm>
            <a:off x="2552482" y="2185416"/>
            <a:ext cx="896112" cy="237744"/>
          </a:xfrm>
          <a:prstGeom prst="rect">
            <a:avLst/>
          </a:prstGeom>
          <a:noFill/>
          <a:ln/>
        </p:spPr>
        <p:txBody>
          <a:bodyPr wrap="square" lIns="0" tIns="0" rIns="0" bIns="0" rtlCol="0" anchor="t"/>
          <a:lstStyle/>
          <a:p>
            <a:pPr algn="ctr" indent="0" marL="0">
              <a:buNone/>
            </a:pPr>
            <a:r>
              <a:rPr lang="en-US" sz="1200" b="1" dirty="0">
                <a:solidFill>
                  <a:schemeClr val="accent2"/>
                </a:solidFill>
              </a:rPr>
              <a:t>3</a:t>
            </a:r>
            <a:endParaRPr lang="en-US" sz="1200" dirty="0"/>
          </a:p>
        </p:txBody>
      </p:sp>
      <p:sp>
        <p:nvSpPr>
          <p:cNvPr id="11" name="Text 9"/>
          <p:cNvSpPr/>
          <p:nvPr/>
        </p:nvSpPr>
        <p:spPr>
          <a:xfrm>
            <a:off x="2552482" y="2514600"/>
            <a:ext cx="896112" cy="1143000"/>
          </a:xfrm>
          <a:prstGeom prst="roundRect">
            <a:avLst>
              <a:gd name="adj" fmla="val 8163"/>
            </a:avLst>
          </a:prstGeom>
          <a:solidFill>
            <a:schemeClr val="bg2"/>
          </a:solidFill>
          <a:ln w="12700">
            <a:solidFill>
              <a:schemeClr val="accent3"/>
            </a:solidFill>
          </a:ln>
        </p:spPr>
        <p:txBody>
          <a:bodyPr wrap="square" lIns="38100" tIns="38100" rIns="38100" bIns="38100" rtlCol="0" anchor="ctr"/>
          <a:lstStyle/>
          <a:p>
            <a:pPr algn="ctr" indent="0" marL="0">
              <a:buNone/>
            </a:pPr>
            <a:r>
              <a:rPr lang="en-US" sz="1300" b="1" dirty="0">
                <a:solidFill>
                  <a:schemeClr val="tx1"/>
                </a:solidFill>
              </a:rPr>
              <a:t>Assess impact</a:t>
            </a:r>
            <a:endParaRPr lang="en-US" sz="1300" dirty="0"/>
          </a:p>
        </p:txBody>
      </p:sp>
      <p:sp>
        <p:nvSpPr>
          <p:cNvPr id="12" name="Shape 10"/>
          <p:cNvSpPr/>
          <p:nvPr/>
        </p:nvSpPr>
        <p:spPr>
          <a:xfrm>
            <a:off x="3462310" y="3086100"/>
            <a:ext cx="124097" cy="0"/>
          </a:xfrm>
          <a:prstGeom prst="line">
            <a:avLst/>
          </a:prstGeom>
          <a:noFill/>
          <a:ln w="19050">
            <a:solidFill>
              <a:schemeClr val="accent5"/>
            </a:solidFill>
            <a:prstDash val="solid"/>
            <a:tailEnd type="triangle"/>
          </a:ln>
        </p:spPr>
      </p:sp>
      <p:sp>
        <p:nvSpPr>
          <p:cNvPr id="13" name="Text 11"/>
          <p:cNvSpPr txBox="1"/>
          <p:nvPr/>
        </p:nvSpPr>
        <p:spPr>
          <a:xfrm>
            <a:off x="3600123" y="2185416"/>
            <a:ext cx="896112" cy="237744"/>
          </a:xfrm>
          <a:prstGeom prst="rect">
            <a:avLst/>
          </a:prstGeom>
          <a:noFill/>
          <a:ln/>
        </p:spPr>
        <p:txBody>
          <a:bodyPr wrap="square" lIns="0" tIns="0" rIns="0" bIns="0" rtlCol="0" anchor="t"/>
          <a:lstStyle/>
          <a:p>
            <a:pPr algn="ctr" indent="0" marL="0">
              <a:buNone/>
            </a:pPr>
            <a:r>
              <a:rPr lang="en-US" sz="1200" b="1" dirty="0">
                <a:solidFill>
                  <a:schemeClr val="accent2"/>
                </a:solidFill>
              </a:rPr>
              <a:t>4</a:t>
            </a:r>
            <a:endParaRPr lang="en-US" sz="1200" dirty="0"/>
          </a:p>
        </p:txBody>
      </p:sp>
      <p:sp>
        <p:nvSpPr>
          <p:cNvPr id="14" name="Text 12"/>
          <p:cNvSpPr/>
          <p:nvPr/>
        </p:nvSpPr>
        <p:spPr>
          <a:xfrm>
            <a:off x="3600123" y="2514600"/>
            <a:ext cx="896112" cy="1143000"/>
          </a:xfrm>
          <a:prstGeom prst="roundRect">
            <a:avLst>
              <a:gd name="adj" fmla="val 8163"/>
            </a:avLst>
          </a:prstGeom>
          <a:solidFill>
            <a:schemeClr val="bg2"/>
          </a:solidFill>
          <a:ln w="12700">
            <a:solidFill>
              <a:schemeClr val="accent3"/>
            </a:solidFill>
          </a:ln>
        </p:spPr>
        <p:txBody>
          <a:bodyPr wrap="square" lIns="38100" tIns="38100" rIns="38100" bIns="38100" rtlCol="0" anchor="ctr"/>
          <a:lstStyle/>
          <a:p>
            <a:pPr algn="ctr" indent="0" marL="0">
              <a:buNone/>
            </a:pPr>
            <a:r>
              <a:rPr lang="en-US" sz="1300" b="1" dirty="0">
                <a:solidFill>
                  <a:schemeClr val="tx1"/>
                </a:solidFill>
              </a:rPr>
              <a:t>Rank risk</a:t>
            </a:r>
            <a:endParaRPr lang="en-US" sz="1300" dirty="0"/>
          </a:p>
        </p:txBody>
      </p:sp>
      <p:sp>
        <p:nvSpPr>
          <p:cNvPr id="15" name="Shape 13"/>
          <p:cNvSpPr/>
          <p:nvPr/>
        </p:nvSpPr>
        <p:spPr>
          <a:xfrm>
            <a:off x="4509951" y="3086100"/>
            <a:ext cx="124097" cy="0"/>
          </a:xfrm>
          <a:prstGeom prst="line">
            <a:avLst/>
          </a:prstGeom>
          <a:noFill/>
          <a:ln w="19050">
            <a:solidFill>
              <a:schemeClr val="accent5"/>
            </a:solidFill>
            <a:prstDash val="solid"/>
            <a:tailEnd type="triangle"/>
          </a:ln>
        </p:spPr>
      </p:sp>
      <p:sp>
        <p:nvSpPr>
          <p:cNvPr id="16" name="Text 14"/>
          <p:cNvSpPr txBox="1"/>
          <p:nvPr/>
        </p:nvSpPr>
        <p:spPr>
          <a:xfrm>
            <a:off x="4647765" y="2185416"/>
            <a:ext cx="896112" cy="237744"/>
          </a:xfrm>
          <a:prstGeom prst="rect">
            <a:avLst/>
          </a:prstGeom>
          <a:noFill/>
          <a:ln/>
        </p:spPr>
        <p:txBody>
          <a:bodyPr wrap="square" lIns="0" tIns="0" rIns="0" bIns="0" rtlCol="0" anchor="t"/>
          <a:lstStyle/>
          <a:p>
            <a:pPr algn="ctr" indent="0" marL="0">
              <a:buNone/>
            </a:pPr>
            <a:r>
              <a:rPr lang="en-US" sz="1200" b="1" dirty="0">
                <a:solidFill>
                  <a:schemeClr val="accent2"/>
                </a:solidFill>
              </a:rPr>
              <a:t>5</a:t>
            </a:r>
            <a:endParaRPr lang="en-US" sz="1200" dirty="0"/>
          </a:p>
        </p:txBody>
      </p:sp>
      <p:sp>
        <p:nvSpPr>
          <p:cNvPr id="17" name="Text 15"/>
          <p:cNvSpPr/>
          <p:nvPr/>
        </p:nvSpPr>
        <p:spPr>
          <a:xfrm>
            <a:off x="4647765" y="2514600"/>
            <a:ext cx="896112" cy="1143000"/>
          </a:xfrm>
          <a:prstGeom prst="roundRect">
            <a:avLst>
              <a:gd name="adj" fmla="val 8163"/>
            </a:avLst>
          </a:prstGeom>
          <a:solidFill>
            <a:schemeClr val="accent1"/>
          </a:solidFill>
          <a:ln/>
        </p:spPr>
        <p:txBody>
          <a:bodyPr wrap="square" lIns="38100" tIns="38100" rIns="38100" bIns="38100" rtlCol="0" anchor="ctr"/>
          <a:lstStyle/>
          <a:p>
            <a:pPr algn="ctr" indent="0" marL="0">
              <a:buNone/>
            </a:pPr>
            <a:r>
              <a:rPr lang="en-US" sz="1300" b="1" dirty="0">
                <a:solidFill>
                  <a:schemeClr val="bg1"/>
                </a:solidFill>
              </a:rPr>
              <a:t>Offer options</a:t>
            </a:r>
            <a:endParaRPr lang="en-US" sz="1300" dirty="0"/>
          </a:p>
        </p:txBody>
      </p:sp>
      <p:sp>
        <p:nvSpPr>
          <p:cNvPr id="18" name="Shape 16"/>
          <p:cNvSpPr/>
          <p:nvPr/>
        </p:nvSpPr>
        <p:spPr>
          <a:xfrm>
            <a:off x="5557593" y="3086100"/>
            <a:ext cx="124097" cy="0"/>
          </a:xfrm>
          <a:prstGeom prst="line">
            <a:avLst/>
          </a:prstGeom>
          <a:noFill/>
          <a:ln w="19050">
            <a:solidFill>
              <a:schemeClr val="accent5"/>
            </a:solidFill>
            <a:prstDash val="solid"/>
            <a:tailEnd type="triangle"/>
          </a:ln>
        </p:spPr>
      </p:sp>
      <p:sp>
        <p:nvSpPr>
          <p:cNvPr id="19" name="Text 17"/>
          <p:cNvSpPr txBox="1"/>
          <p:nvPr/>
        </p:nvSpPr>
        <p:spPr>
          <a:xfrm>
            <a:off x="5695406" y="2185416"/>
            <a:ext cx="896112" cy="237744"/>
          </a:xfrm>
          <a:prstGeom prst="rect">
            <a:avLst/>
          </a:prstGeom>
          <a:noFill/>
          <a:ln/>
        </p:spPr>
        <p:txBody>
          <a:bodyPr wrap="square" lIns="0" tIns="0" rIns="0" bIns="0" rtlCol="0" anchor="t"/>
          <a:lstStyle/>
          <a:p>
            <a:pPr algn="ctr" indent="0" marL="0">
              <a:buNone/>
            </a:pPr>
            <a:r>
              <a:rPr lang="en-US" sz="1200" b="1" dirty="0">
                <a:solidFill>
                  <a:schemeClr val="accent2"/>
                </a:solidFill>
              </a:rPr>
              <a:t>6</a:t>
            </a:r>
            <a:endParaRPr lang="en-US" sz="1200" dirty="0"/>
          </a:p>
        </p:txBody>
      </p:sp>
      <p:sp>
        <p:nvSpPr>
          <p:cNvPr id="20" name="Text 18"/>
          <p:cNvSpPr/>
          <p:nvPr/>
        </p:nvSpPr>
        <p:spPr>
          <a:xfrm>
            <a:off x="5695406" y="2514600"/>
            <a:ext cx="896112" cy="1143000"/>
          </a:xfrm>
          <a:prstGeom prst="roundRect">
            <a:avLst>
              <a:gd name="adj" fmla="val 8163"/>
            </a:avLst>
          </a:prstGeom>
          <a:solidFill>
            <a:schemeClr val="tx2"/>
          </a:solidFill>
          <a:ln/>
        </p:spPr>
        <p:txBody>
          <a:bodyPr wrap="square" lIns="38100" tIns="38100" rIns="38100" bIns="38100" rtlCol="0" anchor="ctr"/>
          <a:lstStyle/>
          <a:p>
            <a:pPr algn="ctr" indent="0" marL="0">
              <a:buNone/>
            </a:pPr>
            <a:r>
              <a:rPr lang="en-US" sz="1300" b="1" dirty="0">
                <a:solidFill>
                  <a:schemeClr val="bg1"/>
                </a:solidFill>
              </a:rPr>
              <a:t>Approve</a:t>
            </a:r>
            <a:endParaRPr lang="en-US" sz="1300" dirty="0"/>
          </a:p>
        </p:txBody>
      </p:sp>
      <p:sp>
        <p:nvSpPr>
          <p:cNvPr id="21" name="Shape 19"/>
          <p:cNvSpPr/>
          <p:nvPr/>
        </p:nvSpPr>
        <p:spPr>
          <a:xfrm>
            <a:off x="6605234" y="3086100"/>
            <a:ext cx="124097" cy="0"/>
          </a:xfrm>
          <a:prstGeom prst="line">
            <a:avLst/>
          </a:prstGeom>
          <a:noFill/>
          <a:ln w="19050">
            <a:solidFill>
              <a:schemeClr val="accent5"/>
            </a:solidFill>
            <a:prstDash val="solid"/>
            <a:tailEnd type="triangle"/>
          </a:ln>
        </p:spPr>
      </p:sp>
      <p:sp>
        <p:nvSpPr>
          <p:cNvPr id="22" name="Text 20"/>
          <p:cNvSpPr txBox="1"/>
          <p:nvPr/>
        </p:nvSpPr>
        <p:spPr>
          <a:xfrm>
            <a:off x="6743047" y="2185416"/>
            <a:ext cx="896112" cy="237744"/>
          </a:xfrm>
          <a:prstGeom prst="rect">
            <a:avLst/>
          </a:prstGeom>
          <a:noFill/>
          <a:ln/>
        </p:spPr>
        <p:txBody>
          <a:bodyPr wrap="square" lIns="0" tIns="0" rIns="0" bIns="0" rtlCol="0" anchor="t"/>
          <a:lstStyle/>
          <a:p>
            <a:pPr algn="ctr" indent="0" marL="0">
              <a:buNone/>
            </a:pPr>
            <a:r>
              <a:rPr lang="en-US" sz="1200" b="1" dirty="0">
                <a:solidFill>
                  <a:schemeClr val="accent2"/>
                </a:solidFill>
              </a:rPr>
              <a:t>7</a:t>
            </a:r>
            <a:endParaRPr lang="en-US" sz="1200" dirty="0"/>
          </a:p>
        </p:txBody>
      </p:sp>
      <p:sp>
        <p:nvSpPr>
          <p:cNvPr id="23" name="Text 21"/>
          <p:cNvSpPr/>
          <p:nvPr/>
        </p:nvSpPr>
        <p:spPr>
          <a:xfrm>
            <a:off x="6743047" y="2514600"/>
            <a:ext cx="896112" cy="1143000"/>
          </a:xfrm>
          <a:prstGeom prst="roundRect">
            <a:avLst>
              <a:gd name="adj" fmla="val 8163"/>
            </a:avLst>
          </a:prstGeom>
          <a:solidFill>
            <a:schemeClr val="bg2"/>
          </a:solidFill>
          <a:ln w="12700">
            <a:solidFill>
              <a:schemeClr val="accent3"/>
            </a:solidFill>
          </a:ln>
        </p:spPr>
        <p:txBody>
          <a:bodyPr wrap="square" lIns="38100" tIns="38100" rIns="38100" bIns="38100" rtlCol="0" anchor="ctr"/>
          <a:lstStyle/>
          <a:p>
            <a:pPr algn="ctr" indent="0" marL="0">
              <a:buNone/>
            </a:pPr>
            <a:r>
              <a:rPr lang="en-US" sz="1300" b="1" dirty="0">
                <a:solidFill>
                  <a:schemeClr val="tx1"/>
                </a:solidFill>
              </a:rPr>
              <a:t>Simulate execution</a:t>
            </a:r>
            <a:endParaRPr lang="en-US" sz="1300" dirty="0"/>
          </a:p>
        </p:txBody>
      </p:sp>
      <p:sp>
        <p:nvSpPr>
          <p:cNvPr id="24" name="Shape 22"/>
          <p:cNvSpPr/>
          <p:nvPr/>
        </p:nvSpPr>
        <p:spPr>
          <a:xfrm>
            <a:off x="7652875" y="3086100"/>
            <a:ext cx="124097" cy="0"/>
          </a:xfrm>
          <a:prstGeom prst="line">
            <a:avLst/>
          </a:prstGeom>
          <a:noFill/>
          <a:ln w="19050">
            <a:solidFill>
              <a:schemeClr val="accent5"/>
            </a:solidFill>
            <a:prstDash val="solid"/>
            <a:tailEnd type="triangle"/>
          </a:ln>
        </p:spPr>
      </p:sp>
      <p:sp>
        <p:nvSpPr>
          <p:cNvPr id="25" name="Text 23"/>
          <p:cNvSpPr txBox="1"/>
          <p:nvPr/>
        </p:nvSpPr>
        <p:spPr>
          <a:xfrm>
            <a:off x="7790688" y="2185416"/>
            <a:ext cx="896112" cy="237744"/>
          </a:xfrm>
          <a:prstGeom prst="rect">
            <a:avLst/>
          </a:prstGeom>
          <a:noFill/>
          <a:ln/>
        </p:spPr>
        <p:txBody>
          <a:bodyPr wrap="square" lIns="0" tIns="0" rIns="0" bIns="0" rtlCol="0" anchor="t"/>
          <a:lstStyle/>
          <a:p>
            <a:pPr algn="ctr" indent="0" marL="0">
              <a:buNone/>
            </a:pPr>
            <a:r>
              <a:rPr lang="en-US" sz="1200" b="1" dirty="0">
                <a:solidFill>
                  <a:schemeClr val="accent2"/>
                </a:solidFill>
              </a:rPr>
              <a:t>8</a:t>
            </a:r>
            <a:endParaRPr lang="en-US" sz="1200" dirty="0"/>
          </a:p>
        </p:txBody>
      </p:sp>
      <p:sp>
        <p:nvSpPr>
          <p:cNvPr id="26" name="Text 24"/>
          <p:cNvSpPr/>
          <p:nvPr/>
        </p:nvSpPr>
        <p:spPr>
          <a:xfrm>
            <a:off x="7790688" y="2514600"/>
            <a:ext cx="896112" cy="1143000"/>
          </a:xfrm>
          <a:prstGeom prst="roundRect">
            <a:avLst>
              <a:gd name="adj" fmla="val 8163"/>
            </a:avLst>
          </a:prstGeom>
          <a:solidFill>
            <a:schemeClr val="bg2"/>
          </a:solidFill>
          <a:ln w="12700">
            <a:solidFill>
              <a:schemeClr val="accent3"/>
            </a:solidFill>
          </a:ln>
        </p:spPr>
        <p:txBody>
          <a:bodyPr wrap="square" lIns="38100" tIns="38100" rIns="38100" bIns="38100" rtlCol="0" anchor="ctr"/>
          <a:lstStyle/>
          <a:p>
            <a:pPr algn="ctr" indent="0" marL="0">
              <a:buNone/>
            </a:pPr>
            <a:r>
              <a:rPr lang="en-US" sz="1300" b="1" dirty="0">
                <a:solidFill>
                  <a:schemeClr val="tx1"/>
                </a:solidFill>
              </a:rPr>
              <a:t>Record</a:t>
            </a:r>
            <a:endParaRPr lang="en-US" sz="1300" dirty="0"/>
          </a:p>
        </p:txBody>
      </p:sp>
      <p:sp>
        <p:nvSpPr>
          <p:cNvPr id="27" name="Shape 25"/>
          <p:cNvSpPr/>
          <p:nvPr/>
        </p:nvSpPr>
        <p:spPr>
          <a:xfrm>
            <a:off x="457200" y="4114800"/>
            <a:ext cx="219456" cy="219456"/>
          </a:xfrm>
          <a:prstGeom prst="roundRect">
            <a:avLst>
              <a:gd name="adj" fmla="val 16667"/>
            </a:avLst>
          </a:prstGeom>
          <a:solidFill>
            <a:schemeClr val="bg2"/>
          </a:solidFill>
          <a:ln w="12700">
            <a:solidFill>
              <a:schemeClr val="accent3"/>
            </a:solidFill>
            <a:prstDash val="solid"/>
          </a:ln>
        </p:spPr>
      </p:sp>
      <p:sp>
        <p:nvSpPr>
          <p:cNvPr id="28" name="Text 26"/>
          <p:cNvSpPr txBox="1"/>
          <p:nvPr/>
        </p:nvSpPr>
        <p:spPr>
          <a:xfrm>
            <a:off x="768096" y="4087368"/>
            <a:ext cx="1463040" cy="274320"/>
          </a:xfrm>
          <a:prstGeom prst="rect">
            <a:avLst/>
          </a:prstGeom>
          <a:noFill/>
          <a:ln/>
        </p:spPr>
        <p:txBody>
          <a:bodyPr wrap="square" lIns="0" tIns="0" rIns="0" bIns="0" rtlCol="0" anchor="ctr"/>
          <a:lstStyle/>
          <a:p>
            <a:pPr indent="0" marL="0">
              <a:buNone/>
            </a:pPr>
            <a:r>
              <a:rPr lang="en-US" sz="1300" dirty="0">
                <a:solidFill>
                  <a:schemeClr val="tx1"/>
                </a:solidFill>
              </a:rPr>
              <a:t>Rules decide</a:t>
            </a:r>
            <a:endParaRPr lang="en-US" sz="1300" dirty="0"/>
          </a:p>
        </p:txBody>
      </p:sp>
      <p:sp>
        <p:nvSpPr>
          <p:cNvPr id="29" name="Shape 27"/>
          <p:cNvSpPr/>
          <p:nvPr/>
        </p:nvSpPr>
        <p:spPr>
          <a:xfrm>
            <a:off x="2286000" y="4114800"/>
            <a:ext cx="219456" cy="219456"/>
          </a:xfrm>
          <a:prstGeom prst="roundRect">
            <a:avLst>
              <a:gd name="adj" fmla="val 16667"/>
            </a:avLst>
          </a:prstGeom>
          <a:solidFill>
            <a:schemeClr val="accent1"/>
          </a:solidFill>
          <a:ln/>
        </p:spPr>
      </p:sp>
      <p:sp>
        <p:nvSpPr>
          <p:cNvPr id="30" name="Text 28"/>
          <p:cNvSpPr txBox="1"/>
          <p:nvPr/>
        </p:nvSpPr>
        <p:spPr>
          <a:xfrm>
            <a:off x="2596896" y="4087368"/>
            <a:ext cx="1463040" cy="274320"/>
          </a:xfrm>
          <a:prstGeom prst="rect">
            <a:avLst/>
          </a:prstGeom>
          <a:noFill/>
          <a:ln/>
        </p:spPr>
        <p:txBody>
          <a:bodyPr wrap="square" lIns="0" tIns="0" rIns="0" bIns="0" rtlCol="0" anchor="ctr"/>
          <a:lstStyle/>
          <a:p>
            <a:pPr indent="0" marL="0">
              <a:buNone/>
            </a:pPr>
            <a:r>
              <a:rPr lang="en-US" sz="1300" dirty="0">
                <a:solidFill>
                  <a:schemeClr val="tx1"/>
                </a:solidFill>
              </a:rPr>
              <a:t>AI advises</a:t>
            </a:r>
            <a:endParaRPr lang="en-US" sz="1300" dirty="0"/>
          </a:p>
        </p:txBody>
      </p:sp>
      <p:sp>
        <p:nvSpPr>
          <p:cNvPr id="31" name="Shape 29"/>
          <p:cNvSpPr/>
          <p:nvPr/>
        </p:nvSpPr>
        <p:spPr>
          <a:xfrm>
            <a:off x="4114800" y="4114800"/>
            <a:ext cx="219456" cy="219456"/>
          </a:xfrm>
          <a:prstGeom prst="roundRect">
            <a:avLst>
              <a:gd name="adj" fmla="val 16667"/>
            </a:avLst>
          </a:prstGeom>
          <a:solidFill>
            <a:schemeClr val="tx2"/>
          </a:solidFill>
          <a:ln/>
        </p:spPr>
      </p:sp>
      <p:sp>
        <p:nvSpPr>
          <p:cNvPr id="32" name="Text 30"/>
          <p:cNvSpPr txBox="1"/>
          <p:nvPr/>
        </p:nvSpPr>
        <p:spPr>
          <a:xfrm>
            <a:off x="4425696" y="4087368"/>
            <a:ext cx="1463040" cy="274320"/>
          </a:xfrm>
          <a:prstGeom prst="rect">
            <a:avLst/>
          </a:prstGeom>
          <a:noFill/>
          <a:ln/>
        </p:spPr>
        <p:txBody>
          <a:bodyPr wrap="square" lIns="0" tIns="0" rIns="0" bIns="0" rtlCol="0" anchor="ctr"/>
          <a:lstStyle/>
          <a:p>
            <a:pPr indent="0" marL="0">
              <a:buNone/>
            </a:pPr>
            <a:r>
              <a:rPr lang="en-US" sz="1300" dirty="0">
                <a:solidFill>
                  <a:schemeClr val="tx1"/>
                </a:solidFill>
              </a:rPr>
              <a:t>Human approves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Live demo</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Two disruptions, two different recoveries.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8229600" cy="914400"/>
        </p:xfrm>
        <a:graphic>
          <a:graphicData uri="http://schemas.openxmlformats.org/drawingml/2006/table">
            <a:tbl>
              <a:tblPr/>
              <a:tblGrid>
                <a:gridCol w="1691640"/>
                <a:gridCol w="2926080"/>
                <a:gridCol w="2103120"/>
                <a:gridCol w="1508760"/>
              </a:tblGrid>
              <a:tr h="365760">
                <a:tc>
                  <a:txBody>
                    <a:bodyPr/>
                    <a:lstStyle/>
                    <a:p>
                      <a:pPr indent="0" marL="0">
                        <a:buNone/>
                      </a:pPr>
                      <a:r>
                        <a:rPr lang="en-US" sz="1200" b="1" dirty="0">
                          <a:solidFill>
                            <a:schemeClr val="accent2"/>
                          </a:solidFill>
                        </a:rPr>
                        <a:t>Disruption</a:t>
                      </a:r>
                      <a:endParaRPr lang="en-US" sz="12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Impact</a:t>
                      </a:r>
                      <a:endParaRPr lang="en-US" sz="12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Recovery</a:t>
                      </a:r>
                      <a:endParaRPr lang="en-US" sz="12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Approver</a:t>
                      </a:r>
                      <a:endParaRPr lang="en-US" sz="12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solidFill>
                      <a:schemeClr val="bg2"/>
                    </a:solidFill>
                  </a:tcPr>
                </a:tc>
              </a:tr>
              <a:tr h="868680">
                <a:tc>
                  <a:txBody>
                    <a:bodyPr/>
                    <a:lstStyle/>
                    <a:p>
                      <a:pPr indent="0" marL="0">
                        <a:buNone/>
                      </a:pPr>
                      <a:r>
                        <a:rPr lang="en-US" sz="1500" b="1" dirty="0">
                          <a:solidFill>
                            <a:schemeClr val="tx1"/>
                          </a:solidFill>
                        </a:rPr>
                        <a:t>Sea freight delay (Chennai Port)</a:t>
                      </a:r>
                      <a:endParaRPr lang="en-US" sz="15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tcPr>
                </a:tc>
                <a:tc>
                  <a:txBody>
                    <a:bodyPr/>
                    <a:lstStyle/>
                    <a:p>
                      <a:pPr indent="0" marL="0">
                        <a:buNone/>
                      </a:pPr>
                      <a:r>
                        <a:rPr lang="en-US" sz="1500" dirty="0">
                          <a:solidFill>
                            <a:schemeClr val="tx1"/>
                          </a:solidFill>
                        </a:rPr>
                        <a:t>Shipment 5 days late; 3 orders (₹8.9 L) short, one Critical</a:t>
                      </a:r>
                      <a:endParaRPr lang="en-US" sz="15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tcPr>
                </a:tc>
                <a:tc>
                  <a:txBody>
                    <a:bodyPr/>
                    <a:lstStyle/>
                    <a:p>
                      <a:pPr indent="0" marL="0">
                        <a:buNone/>
                      </a:pPr>
                      <a:r>
                        <a:rPr lang="en-US" sz="1500" dirty="0">
                          <a:solidFill>
                            <a:schemeClr val="tx1"/>
                          </a:solidFill>
                        </a:rPr>
                        <a:t>Move stock from Hyderabad, or expedite the shipment</a:t>
                      </a:r>
                      <a:endParaRPr lang="en-US" sz="15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tcPr>
                </a:tc>
                <a:tc>
                  <a:txBody>
                    <a:bodyPr/>
                    <a:lstStyle/>
                    <a:p>
                      <a:pPr indent="0" marL="0">
                        <a:buNone/>
                      </a:pPr>
                      <a:r>
                        <a:rPr lang="en-US" sz="1500" b="1" dirty="0">
                          <a:solidFill>
                            <a:schemeClr val="tx2"/>
                          </a:solidFill>
                        </a:rPr>
                        <a:t>Supply Chain Manager</a:t>
                      </a:r>
                      <a:endParaRPr lang="en-US" sz="15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tcPr>
                </a:tc>
              </a:tr>
              <a:tr h="868680">
                <a:tc>
                  <a:txBody>
                    <a:bodyPr/>
                    <a:lstStyle/>
                    <a:p>
                      <a:pPr indent="0" marL="0">
                        <a:buNone/>
                      </a:pPr>
                      <a:r>
                        <a:rPr lang="en-US" sz="1500" b="1" dirty="0">
                          <a:solidFill>
                            <a:schemeClr val="tx1"/>
                          </a:solidFill>
                        </a:rPr>
                        <a:t>Supplier shortfall (Mumbai)</a:t>
                      </a:r>
                      <a:endParaRPr lang="en-US" sz="15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tcPr>
                </a:tc>
                <a:tc>
                  <a:txBody>
                    <a:bodyPr/>
                    <a:lstStyle/>
                    <a:p>
                      <a:pPr indent="0" marL="0">
                        <a:buNone/>
                      </a:pPr>
                      <a:r>
                        <a:rPr lang="en-US" sz="1500" dirty="0">
                          <a:solidFill>
                            <a:schemeClr val="tx1"/>
                          </a:solidFill>
                        </a:rPr>
                        <a:t>Mumbai stock short; 3 orders (₹12.0 L), one Critical</a:t>
                      </a:r>
                      <a:endParaRPr lang="en-US" sz="15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tcPr>
                </a:tc>
                <a:tc>
                  <a:txBody>
                    <a:bodyPr/>
                    <a:lstStyle/>
                    <a:p>
                      <a:pPr indent="0" marL="0">
                        <a:buNone/>
                      </a:pPr>
                      <a:r>
                        <a:rPr lang="en-US" sz="1500" dirty="0">
                          <a:solidFill>
                            <a:schemeClr val="tx1"/>
                          </a:solidFill>
                        </a:rPr>
                        <a:t>Move stock from Hyderabad; free split options flagged ⚠</a:t>
                      </a:r>
                      <a:endParaRPr lang="en-US" sz="15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tcPr>
                </a:tc>
                <a:tc>
                  <a:txBody>
                    <a:bodyPr/>
                    <a:lstStyle/>
                    <a:p>
                      <a:pPr indent="0" marL="0">
                        <a:buNone/>
                      </a:pPr>
                      <a:r>
                        <a:rPr lang="en-US" sz="1500" b="1" dirty="0">
                          <a:solidFill>
                            <a:schemeClr val="tx2"/>
                          </a:solidFill>
                        </a:rPr>
                        <a:t>Supply Chain Manager</a:t>
                      </a:r>
                      <a:endParaRPr lang="en-US" sz="1500" dirty="0"/>
                    </a:p>
                  </a:txBody>
                  <a:tcPr marL="128016" marR="128016" marT="73152" marB="73152" anchor="ctr">
                    <a:lnL w="0" cap="flat" cmpd="sng" algn="ctr">
                      <a:noFill/>
                    </a:lnL>
                    <a:lnR w="0" cap="flat" cmpd="sng" algn="ctr">
                      <a:noFill/>
                    </a:lnR>
                    <a:lnT w="0" cap="flat" cmpd="sng" algn="ctr">
                      <a:noFill/>
                    </a:lnT>
                    <a:lnB w="12700" cap="flat" cmpd="sng" algn="ctr">
                      <a:solidFill>
                        <a:srgbClr val="CDD3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Our novelty</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Do-no-harm recovery: no fix starts the next disruption.</a:t>
            </a:r>
            <a:endParaRPr lang="en-US" sz="2600" dirty="0"/>
          </a:p>
        </p:txBody>
      </p:sp>
      <p:sp>
        <p:nvSpPr>
          <p:cNvPr id="6" name="Text 4"/>
          <p:cNvSpPr txBox="1"/>
          <p:nvPr/>
        </p:nvSpPr>
        <p:spPr>
          <a:xfrm>
            <a:off x="6080760" y="2103120"/>
            <a:ext cx="2606040" cy="320040"/>
          </a:xfrm>
          <a:prstGeom prst="rect">
            <a:avLst/>
          </a:prstGeom>
          <a:noFill/>
          <a:ln/>
        </p:spPr>
        <p:txBody>
          <a:bodyPr wrap="square" lIns="0" tIns="0" rIns="0" bIns="0" rtlCol="0" anchor="t"/>
          <a:lstStyle/>
          <a:p>
            <a:pPr indent="0" marL="0">
              <a:buNone/>
            </a:pPr>
            <a:r>
              <a:rPr lang="en-US" sz="1500" b="1" dirty="0">
                <a:solidFill>
                  <a:schemeClr val="accent2"/>
                </a:solidFill>
              </a:rPr>
              <a:t>Before anyone approves</a:t>
            </a:r>
            <a:endParaRPr lang="en-US" sz="1500" dirty="0"/>
          </a:p>
        </p:txBody>
      </p:sp>
      <p:sp>
        <p:nvSpPr>
          <p:cNvPr id="7" name="Shape 5"/>
          <p:cNvSpPr/>
          <p:nvPr/>
        </p:nvSpPr>
        <p:spPr>
          <a:xfrm>
            <a:off x="6080760" y="2706624"/>
            <a:ext cx="109728" cy="109728"/>
          </a:xfrm>
          <a:prstGeom prst="ellipse">
            <a:avLst/>
          </a:prstGeom>
          <a:solidFill>
            <a:schemeClr val="accent1"/>
          </a:solidFill>
          <a:ln/>
        </p:spPr>
      </p:sp>
      <p:sp>
        <p:nvSpPr>
          <p:cNvPr id="8" name="Text 6"/>
          <p:cNvSpPr txBox="1"/>
          <p:nvPr/>
        </p:nvSpPr>
        <p:spPr>
          <a:xfrm>
            <a:off x="6327648" y="2606040"/>
            <a:ext cx="2377440" cy="310896"/>
          </a:xfrm>
          <a:prstGeom prst="rect">
            <a:avLst/>
          </a:prstGeom>
          <a:noFill/>
          <a:ln/>
        </p:spPr>
        <p:txBody>
          <a:bodyPr wrap="square" lIns="0" tIns="0" rIns="0" bIns="0" rtlCol="0" anchor="ctr"/>
          <a:lstStyle/>
          <a:p>
            <a:pPr indent="0" marL="0">
              <a:buNone/>
            </a:pPr>
            <a:r>
              <a:rPr lang="en-US" sz="1700" dirty="0">
                <a:solidFill>
                  <a:schemeClr val="tx1"/>
                </a:solidFill>
              </a:rPr>
              <a:t>Side effects checked</a:t>
            </a:r>
            <a:endParaRPr lang="en-US" sz="1700" dirty="0"/>
          </a:p>
        </p:txBody>
      </p:sp>
      <p:sp>
        <p:nvSpPr>
          <p:cNvPr id="9" name="Shape 7"/>
          <p:cNvSpPr/>
          <p:nvPr/>
        </p:nvSpPr>
        <p:spPr>
          <a:xfrm>
            <a:off x="6080760" y="3099816"/>
            <a:ext cx="109728" cy="109728"/>
          </a:xfrm>
          <a:prstGeom prst="ellipse">
            <a:avLst/>
          </a:prstGeom>
          <a:solidFill>
            <a:schemeClr val="accent1"/>
          </a:solidFill>
          <a:ln/>
        </p:spPr>
      </p:sp>
      <p:sp>
        <p:nvSpPr>
          <p:cNvPr id="10" name="Text 8"/>
          <p:cNvSpPr txBox="1"/>
          <p:nvPr/>
        </p:nvSpPr>
        <p:spPr>
          <a:xfrm>
            <a:off x="6327648" y="2999232"/>
            <a:ext cx="2377440" cy="310896"/>
          </a:xfrm>
          <a:prstGeom prst="rect">
            <a:avLst/>
          </a:prstGeom>
          <a:noFill/>
          <a:ln/>
        </p:spPr>
        <p:txBody>
          <a:bodyPr wrap="square" lIns="0" tIns="0" rIns="0" bIns="0" rtlCol="0" anchor="ctr"/>
          <a:lstStyle/>
          <a:p>
            <a:pPr indent="0" marL="0">
              <a:buNone/>
            </a:pPr>
            <a:r>
              <a:rPr lang="en-US" sz="1700" dirty="0">
                <a:solidFill>
                  <a:schemeClr val="tx1"/>
                </a:solidFill>
              </a:rPr>
              <a:t>Risky sources skipped</a:t>
            </a:r>
            <a:endParaRPr lang="en-US" sz="1700" dirty="0"/>
          </a:p>
        </p:txBody>
      </p:sp>
      <p:sp>
        <p:nvSpPr>
          <p:cNvPr id="11" name="Shape 9"/>
          <p:cNvSpPr/>
          <p:nvPr/>
        </p:nvSpPr>
        <p:spPr>
          <a:xfrm>
            <a:off x="6080760" y="3493008"/>
            <a:ext cx="109728" cy="109728"/>
          </a:xfrm>
          <a:prstGeom prst="ellipse">
            <a:avLst/>
          </a:prstGeom>
          <a:solidFill>
            <a:schemeClr val="accent1"/>
          </a:solidFill>
          <a:ln/>
        </p:spPr>
      </p:sp>
      <p:sp>
        <p:nvSpPr>
          <p:cNvPr id="12" name="Text 10"/>
          <p:cNvSpPr txBox="1"/>
          <p:nvPr/>
        </p:nvSpPr>
        <p:spPr>
          <a:xfrm>
            <a:off x="6327648" y="3392424"/>
            <a:ext cx="2377440" cy="310896"/>
          </a:xfrm>
          <a:prstGeom prst="rect">
            <a:avLst/>
          </a:prstGeom>
          <a:noFill/>
          <a:ln/>
        </p:spPr>
        <p:txBody>
          <a:bodyPr wrap="square" lIns="0" tIns="0" rIns="0" bIns="0" rtlCol="0" anchor="ctr"/>
          <a:lstStyle/>
          <a:p>
            <a:pPr indent="0" marL="0">
              <a:buNone/>
            </a:pPr>
            <a:r>
              <a:rPr lang="en-US" sz="1700" dirty="0">
                <a:solidFill>
                  <a:schemeClr val="tx1"/>
                </a:solidFill>
              </a:rPr>
              <a:t>Harmful fixes go last</a:t>
            </a:r>
            <a:endParaRPr lang="en-US" sz="1700" dirty="0"/>
          </a:p>
        </p:txBody>
      </p:sp>
      <p:sp>
        <p:nvSpPr>
          <p:cNvPr id="13" name="Shape 11"/>
          <p:cNvSpPr/>
          <p:nvPr/>
        </p:nvSpPr>
        <p:spPr>
          <a:xfrm>
            <a:off x="6080760" y="3886200"/>
            <a:ext cx="109728" cy="109728"/>
          </a:xfrm>
          <a:prstGeom prst="ellipse">
            <a:avLst/>
          </a:prstGeom>
          <a:solidFill>
            <a:schemeClr val="accent1"/>
          </a:solidFill>
          <a:ln/>
        </p:spPr>
      </p:sp>
      <p:sp>
        <p:nvSpPr>
          <p:cNvPr id="14" name="Text 12"/>
          <p:cNvSpPr txBox="1"/>
          <p:nvPr/>
        </p:nvSpPr>
        <p:spPr>
          <a:xfrm>
            <a:off x="6327648" y="3785616"/>
            <a:ext cx="2377440" cy="310896"/>
          </a:xfrm>
          <a:prstGeom prst="rect">
            <a:avLst/>
          </a:prstGeom>
          <a:noFill/>
          <a:ln/>
        </p:spPr>
        <p:txBody>
          <a:bodyPr wrap="square" lIns="0" tIns="0" rIns="0" bIns="0" rtlCol="0" anchor="ctr"/>
          <a:lstStyle/>
          <a:p>
            <a:pPr indent="0" marL="0">
              <a:buNone/>
            </a:pPr>
            <a:r>
              <a:rPr lang="en-US" sz="1700" dirty="0">
                <a:solidFill>
                  <a:schemeClr val="tx1"/>
                </a:solidFill>
              </a:rPr>
              <a:t>Fix previewed on a map</a:t>
            </a:r>
            <a:endParaRPr lang="en-US" sz="1700" dirty="0"/>
          </a:p>
        </p:txBody>
      </p:sp>
      <p:sp>
        <p:nvSpPr>
          <p:cNvPr id="15" name="Shape 13"/>
          <p:cNvSpPr/>
          <p:nvPr/>
        </p:nvSpPr>
        <p:spPr>
          <a:xfrm>
            <a:off x="6080760" y="4279392"/>
            <a:ext cx="109728" cy="109728"/>
          </a:xfrm>
          <a:prstGeom prst="ellipse">
            <a:avLst/>
          </a:prstGeom>
          <a:solidFill>
            <a:schemeClr val="accent1"/>
          </a:solidFill>
          <a:ln/>
        </p:spPr>
      </p:sp>
      <p:sp>
        <p:nvSpPr>
          <p:cNvPr id="16" name="Text 14"/>
          <p:cNvSpPr txBox="1"/>
          <p:nvPr/>
        </p:nvSpPr>
        <p:spPr>
          <a:xfrm>
            <a:off x="6327648" y="4178808"/>
            <a:ext cx="2377440" cy="310896"/>
          </a:xfrm>
          <a:prstGeom prst="rect">
            <a:avLst/>
          </a:prstGeom>
          <a:noFill/>
          <a:ln/>
        </p:spPr>
        <p:txBody>
          <a:bodyPr wrap="square" lIns="0" tIns="0" rIns="0" bIns="0" rtlCol="0" anchor="ctr"/>
          <a:lstStyle/>
          <a:p>
            <a:pPr indent="0" marL="0">
              <a:buNone/>
            </a:pPr>
            <a:r>
              <a:rPr lang="en-US" sz="1700" dirty="0">
                <a:solidFill>
                  <a:schemeClr val="tx1"/>
                </a:solidFill>
              </a:rPr>
              <a:t>Re-checked at approval</a:t>
            </a:r>
            <a:endParaRPr lang="en-US" sz="1700" dirty="0"/>
          </a:p>
        </p:txBody>
      </p:sp>
      <p:pic>
        <p:nvPicPr>
          <p:cNvPr id="61" name="Screenshot 1" descr="Recovery options with do-no-harm labels and a map preview of a fix that would leave another order short"/>
          <p:cNvPicPr>
            <a:picLocks noChangeAspect="1"/>
          </p:cNvPicPr>
          <p:nvPr/>
        </p:nvPicPr>
        <p:blipFill>
          <a:blip r:embed="rId3"/>
          <a:stretch>
            <a:fillRect/>
          </a:stretch>
        </p:blipFill>
        <p:spPr>
          <a:xfrm>
            <a:off x="457200" y="2520581"/>
            <a:ext cx="5257800" cy="1542518"/>
          </a:xfrm>
          <a:prstGeom prst="rect">
            <a:avLst/>
          </a:prstGeom>
          <a:ln w="9525">
            <a:solidFill>
              <a:srgbClr val="BFBFBF"/>
            </a:solidFill>
          </a:ln>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AI suggestion</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AI picks from options the rules built and checked.</a:t>
            </a:r>
            <a:endParaRPr lang="en-US" sz="2600" dirty="0"/>
          </a:p>
        </p:txBody>
      </p:sp>
      <p:sp>
        <p:nvSpPr>
          <p:cNvPr id="4" name="Shape 2"/>
          <p:cNvSpPr/>
          <p:nvPr/>
        </p:nvSpPr>
        <p:spPr>
          <a:xfrm>
            <a:off x="457200" y="2057400"/>
            <a:ext cx="2834640" cy="2468880"/>
          </a:xfrm>
          <a:prstGeom prst="roundRect">
            <a:avLst>
              <a:gd name="adj" fmla="val 3704"/>
            </a:avLst>
          </a:prstGeom>
          <a:solidFill>
            <a:schemeClr val="accent4"/>
          </a:solidFill>
          <a:ln/>
        </p:spPr>
      </p:sp>
      <p:sp>
        <p:nvSpPr>
          <p:cNvPr id="5" name="Text 3"/>
          <p:cNvSpPr txBox="1"/>
          <p:nvPr/>
        </p:nvSpPr>
        <p:spPr>
          <a:xfrm>
            <a:off x="713232" y="2286000"/>
            <a:ext cx="237744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Guardrail</a:t>
            </a:r>
            <a:endParaRPr lang="en-US" sz="1300" dirty="0"/>
          </a:p>
        </p:txBody>
      </p:sp>
      <p:sp>
        <p:nvSpPr>
          <p:cNvPr id="6" name="Text 4"/>
          <p:cNvSpPr txBox="1"/>
          <p:nvPr/>
        </p:nvSpPr>
        <p:spPr>
          <a:xfrm>
            <a:off x="713232" y="2651760"/>
            <a:ext cx="2377440" cy="1691640"/>
          </a:xfrm>
          <a:prstGeom prst="rect">
            <a:avLst/>
          </a:prstGeom>
          <a:noFill/>
          <a:ln/>
        </p:spPr>
        <p:txBody>
          <a:bodyPr wrap="square" lIns="0" tIns="0" rIns="0" bIns="0" rtlCol="0" anchor="t"/>
          <a:lstStyle/>
          <a:p>
            <a:pPr indent="0" marL="0">
              <a:buNone/>
            </a:pPr>
            <a:r>
              <a:rPr lang="en-US" sz="1500" dirty="0">
                <a:solidFill>
                  <a:schemeClr val="tx1"/>
                </a:solidFill>
              </a:rPr>
              <a:t>Gemini can only recommend option numbers the rules built and checked. Its picks are highlighted as “AI suggested”; a person still chooses.</a:t>
            </a:r>
            <a:endParaRPr lang="en-US" sz="1900" dirty="0"/>
          </a:p>
        </p:txBody>
      </p:sp>
      <p:pic>
        <p:nvPicPr>
          <p:cNvPr id="62" name="Screenshot 2" descr="Recovery options window with Gemini advice and the options it recommends highlighted as AI suggested"/>
          <p:cNvPicPr>
            <a:picLocks noChangeAspect="1"/>
          </p:cNvPicPr>
          <p:nvPr/>
        </p:nvPicPr>
        <p:blipFill>
          <a:blip r:embed="rId3"/>
          <a:stretch>
            <a:fillRect/>
          </a:stretch>
        </p:blipFill>
        <p:spPr>
          <a:xfrm>
            <a:off x="3566160" y="2387600"/>
            <a:ext cx="5120640" cy="1808480"/>
          </a:xfrm>
          <a:prstGeom prst="rect">
            <a:avLst/>
          </a:prstGeom>
          <a:ln w="9525">
            <a:solidFill>
              <a:srgbClr val="BFBFBF"/>
            </a:solidFill>
          </a:ln>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Rules and Safety</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Safe by design.</a:t>
            </a:r>
            <a:endParaRPr lang="en-US" sz="2600" dirty="0"/>
          </a:p>
        </p:txBody>
      </p:sp>
      <p:sp>
        <p:nvSpPr>
          <p:cNvPr id="4" name="Shape 2"/>
          <p:cNvSpPr/>
          <p:nvPr/>
        </p:nvSpPr>
        <p:spPr>
          <a:xfrm>
            <a:off x="457200" y="2057400"/>
            <a:ext cx="3977640" cy="2011680"/>
          </a:xfrm>
          <a:prstGeom prst="roundRect">
            <a:avLst>
              <a:gd name="adj" fmla="val 4545"/>
            </a:avLst>
          </a:prstGeom>
          <a:solidFill>
            <a:schemeClr val="bg2"/>
          </a:solidFill>
          <a:ln/>
        </p:spPr>
      </p:sp>
      <p:sp>
        <p:nvSpPr>
          <p:cNvPr id="5" name="Text 3"/>
          <p:cNvSpPr txBox="1"/>
          <p:nvPr/>
        </p:nvSpPr>
        <p:spPr>
          <a:xfrm>
            <a:off x="731520" y="2258568"/>
            <a:ext cx="352044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Handled safely</a:t>
            </a:r>
            <a:endParaRPr lang="en-US" sz="1900" dirty="0"/>
          </a:p>
        </p:txBody>
      </p:sp>
      <p:sp>
        <p:nvSpPr>
          <p:cNvPr id="6" name="Shape 4"/>
          <p:cNvSpPr/>
          <p:nvPr/>
        </p:nvSpPr>
        <p:spPr>
          <a:xfrm>
            <a:off x="731520" y="2816352"/>
            <a:ext cx="256032" cy="256032"/>
          </a:xfrm>
          <a:prstGeom prst="ellipse">
            <a:avLst/>
          </a:prstGeom>
          <a:solidFill>
            <a:schemeClr val="tx2"/>
          </a:solidFill>
          <a:ln/>
        </p:spPr>
      </p:sp>
      <p:sp>
        <p:nvSpPr>
          <p:cNvPr id="7" name="Shape 5"/>
          <p:cNvSpPr/>
          <p:nvPr/>
        </p:nvSpPr>
        <p:spPr>
          <a:xfrm>
            <a:off x="800649" y="2952049"/>
            <a:ext cx="40965" cy="40965"/>
          </a:xfrm>
          <a:prstGeom prst="line">
            <a:avLst/>
          </a:prstGeom>
          <a:noFill/>
          <a:ln w="25400">
            <a:solidFill>
              <a:schemeClr val="bg1"/>
            </a:solidFill>
            <a:prstDash val="solid"/>
          </a:ln>
        </p:spPr>
      </p:sp>
      <p:sp>
        <p:nvSpPr>
          <p:cNvPr id="8" name="Shape 6"/>
          <p:cNvSpPr/>
          <p:nvPr/>
        </p:nvSpPr>
        <p:spPr>
          <a:xfrm flipV="1">
            <a:off x="841614" y="2905963"/>
            <a:ext cx="79370" cy="87051"/>
          </a:xfrm>
          <a:prstGeom prst="line">
            <a:avLst/>
          </a:prstGeom>
          <a:noFill/>
          <a:ln w="25400">
            <a:solidFill>
              <a:schemeClr val="bg1"/>
            </a:solidFill>
            <a:prstDash val="solid"/>
          </a:ln>
        </p:spPr>
      </p:sp>
      <p:sp>
        <p:nvSpPr>
          <p:cNvPr id="9" name="Text 7"/>
          <p:cNvSpPr txBox="1"/>
          <p:nvPr/>
        </p:nvSpPr>
        <p:spPr>
          <a:xfrm>
            <a:off x="1115568" y="2788920"/>
            <a:ext cx="3154680" cy="310896"/>
          </a:xfrm>
          <a:prstGeom prst="rect">
            <a:avLst/>
          </a:prstGeom>
          <a:noFill/>
          <a:ln/>
        </p:spPr>
        <p:txBody>
          <a:bodyPr wrap="square" lIns="0" tIns="0" rIns="0" bIns="0" rtlCol="0" anchor="ctr"/>
          <a:lstStyle/>
          <a:p>
            <a:pPr indent="0" marL="0">
              <a:buNone/>
            </a:pPr>
            <a:r>
              <a:rPr lang="en-US" sz="1600" dirty="0">
                <a:solidFill>
                  <a:schemeClr val="tx1"/>
                </a:solidFill>
              </a:rPr>
              <a:t>Duplicate events</a:t>
            </a:r>
            <a:endParaRPr lang="en-US" sz="1600" dirty="0"/>
          </a:p>
        </p:txBody>
      </p:sp>
      <p:sp>
        <p:nvSpPr>
          <p:cNvPr id="10" name="Shape 8"/>
          <p:cNvSpPr/>
          <p:nvPr/>
        </p:nvSpPr>
        <p:spPr>
          <a:xfrm>
            <a:off x="731520" y="3227832"/>
            <a:ext cx="256032" cy="256032"/>
          </a:xfrm>
          <a:prstGeom prst="ellipse">
            <a:avLst/>
          </a:prstGeom>
          <a:solidFill>
            <a:schemeClr val="tx2"/>
          </a:solidFill>
          <a:ln/>
        </p:spPr>
      </p:sp>
      <p:sp>
        <p:nvSpPr>
          <p:cNvPr id="11" name="Shape 9"/>
          <p:cNvSpPr/>
          <p:nvPr/>
        </p:nvSpPr>
        <p:spPr>
          <a:xfrm>
            <a:off x="800649" y="3363529"/>
            <a:ext cx="40965" cy="40965"/>
          </a:xfrm>
          <a:prstGeom prst="line">
            <a:avLst/>
          </a:prstGeom>
          <a:noFill/>
          <a:ln w="25400">
            <a:solidFill>
              <a:schemeClr val="bg1"/>
            </a:solidFill>
            <a:prstDash val="solid"/>
          </a:ln>
        </p:spPr>
      </p:sp>
      <p:sp>
        <p:nvSpPr>
          <p:cNvPr id="12" name="Shape 10"/>
          <p:cNvSpPr/>
          <p:nvPr/>
        </p:nvSpPr>
        <p:spPr>
          <a:xfrm flipV="1">
            <a:off x="841614" y="3317443"/>
            <a:ext cx="79370" cy="87051"/>
          </a:xfrm>
          <a:prstGeom prst="line">
            <a:avLst/>
          </a:prstGeom>
          <a:noFill/>
          <a:ln w="25400">
            <a:solidFill>
              <a:schemeClr val="bg1"/>
            </a:solidFill>
            <a:prstDash val="solid"/>
          </a:ln>
        </p:spPr>
      </p:sp>
      <p:sp>
        <p:nvSpPr>
          <p:cNvPr id="13" name="Text 11"/>
          <p:cNvSpPr txBox="1"/>
          <p:nvPr/>
        </p:nvSpPr>
        <p:spPr>
          <a:xfrm>
            <a:off x="1115568" y="3200400"/>
            <a:ext cx="3154680" cy="310896"/>
          </a:xfrm>
          <a:prstGeom prst="rect">
            <a:avLst/>
          </a:prstGeom>
          <a:noFill/>
          <a:ln/>
        </p:spPr>
        <p:txBody>
          <a:bodyPr wrap="square" lIns="0" tIns="0" rIns="0" bIns="0" rtlCol="0" anchor="ctr"/>
          <a:lstStyle/>
          <a:p>
            <a:pPr indent="0" marL="0">
              <a:buNone/>
            </a:pPr>
            <a:r>
              <a:rPr lang="en-US" sz="1600" dirty="0">
                <a:solidFill>
                  <a:schemeClr val="tx1"/>
                </a:solidFill>
              </a:rPr>
              <a:t>Invalid data</a:t>
            </a:r>
            <a:endParaRPr lang="en-US" sz="1600" dirty="0"/>
          </a:p>
        </p:txBody>
      </p:sp>
      <p:sp>
        <p:nvSpPr>
          <p:cNvPr id="14" name="Shape 12"/>
          <p:cNvSpPr/>
          <p:nvPr/>
        </p:nvSpPr>
        <p:spPr>
          <a:xfrm>
            <a:off x="731520" y="3639312"/>
            <a:ext cx="256032" cy="256032"/>
          </a:xfrm>
          <a:prstGeom prst="ellipse">
            <a:avLst/>
          </a:prstGeom>
          <a:solidFill>
            <a:schemeClr val="tx2"/>
          </a:solidFill>
          <a:ln/>
        </p:spPr>
      </p:sp>
      <p:sp>
        <p:nvSpPr>
          <p:cNvPr id="15" name="Shape 13"/>
          <p:cNvSpPr/>
          <p:nvPr/>
        </p:nvSpPr>
        <p:spPr>
          <a:xfrm>
            <a:off x="800649" y="3775009"/>
            <a:ext cx="40965" cy="40965"/>
          </a:xfrm>
          <a:prstGeom prst="line">
            <a:avLst/>
          </a:prstGeom>
          <a:noFill/>
          <a:ln w="25400">
            <a:solidFill>
              <a:schemeClr val="bg1"/>
            </a:solidFill>
            <a:prstDash val="solid"/>
          </a:ln>
        </p:spPr>
      </p:sp>
      <p:sp>
        <p:nvSpPr>
          <p:cNvPr id="16" name="Shape 14"/>
          <p:cNvSpPr/>
          <p:nvPr/>
        </p:nvSpPr>
        <p:spPr>
          <a:xfrm flipV="1">
            <a:off x="841614" y="3728923"/>
            <a:ext cx="79370" cy="87051"/>
          </a:xfrm>
          <a:prstGeom prst="line">
            <a:avLst/>
          </a:prstGeom>
          <a:noFill/>
          <a:ln w="25400">
            <a:solidFill>
              <a:schemeClr val="bg1"/>
            </a:solidFill>
            <a:prstDash val="solid"/>
          </a:ln>
        </p:spPr>
      </p:sp>
      <p:sp>
        <p:nvSpPr>
          <p:cNvPr id="17" name="Text 15"/>
          <p:cNvSpPr txBox="1"/>
          <p:nvPr/>
        </p:nvSpPr>
        <p:spPr>
          <a:xfrm>
            <a:off x="1115568" y="3611880"/>
            <a:ext cx="3154680" cy="310896"/>
          </a:xfrm>
          <a:prstGeom prst="rect">
            <a:avLst/>
          </a:prstGeom>
          <a:noFill/>
          <a:ln/>
        </p:spPr>
        <p:txBody>
          <a:bodyPr wrap="square" lIns="0" tIns="0" rIns="0" bIns="0" rtlCol="0" anchor="ctr"/>
          <a:lstStyle/>
          <a:p>
            <a:pPr indent="0" marL="0">
              <a:buNone/>
            </a:pPr>
            <a:r>
              <a:rPr lang="en-US" sz="1600" dirty="0">
                <a:solidFill>
                  <a:schemeClr val="tx1"/>
                </a:solidFill>
              </a:rPr>
              <a:t>Stale updates</a:t>
            </a:r>
            <a:endParaRPr lang="en-US" sz="1600" dirty="0"/>
          </a:p>
        </p:txBody>
      </p:sp>
      <p:sp>
        <p:nvSpPr>
          <p:cNvPr id="18" name="Shape 16"/>
          <p:cNvSpPr/>
          <p:nvPr/>
        </p:nvSpPr>
        <p:spPr>
          <a:xfrm>
            <a:off x="4709160" y="2057400"/>
            <a:ext cx="3977640" cy="2011680"/>
          </a:xfrm>
          <a:prstGeom prst="roundRect">
            <a:avLst>
              <a:gd name="adj" fmla="val 4545"/>
            </a:avLst>
          </a:prstGeom>
          <a:solidFill>
            <a:schemeClr val="bg2"/>
          </a:solidFill>
          <a:ln/>
        </p:spPr>
      </p:sp>
      <p:sp>
        <p:nvSpPr>
          <p:cNvPr id="19" name="Text 17"/>
          <p:cNvSpPr txBox="1"/>
          <p:nvPr/>
        </p:nvSpPr>
        <p:spPr>
          <a:xfrm>
            <a:off x="4983480" y="2258568"/>
            <a:ext cx="352044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Enforced by the rules</a:t>
            </a:r>
            <a:endParaRPr lang="en-US" sz="1900" dirty="0"/>
          </a:p>
        </p:txBody>
      </p:sp>
      <p:sp>
        <p:nvSpPr>
          <p:cNvPr id="20" name="Shape 18"/>
          <p:cNvSpPr/>
          <p:nvPr/>
        </p:nvSpPr>
        <p:spPr>
          <a:xfrm>
            <a:off x="4983480" y="2816352"/>
            <a:ext cx="256032" cy="256032"/>
          </a:xfrm>
          <a:prstGeom prst="ellipse">
            <a:avLst/>
          </a:prstGeom>
          <a:solidFill>
            <a:schemeClr val="tx2"/>
          </a:solidFill>
          <a:ln/>
        </p:spPr>
      </p:sp>
      <p:sp>
        <p:nvSpPr>
          <p:cNvPr id="21" name="Shape 19"/>
          <p:cNvSpPr/>
          <p:nvPr/>
        </p:nvSpPr>
        <p:spPr>
          <a:xfrm>
            <a:off x="5052609" y="2952049"/>
            <a:ext cx="40965" cy="40965"/>
          </a:xfrm>
          <a:prstGeom prst="line">
            <a:avLst/>
          </a:prstGeom>
          <a:noFill/>
          <a:ln w="25400">
            <a:solidFill>
              <a:schemeClr val="bg1"/>
            </a:solidFill>
            <a:prstDash val="solid"/>
          </a:ln>
        </p:spPr>
      </p:sp>
      <p:sp>
        <p:nvSpPr>
          <p:cNvPr id="22" name="Shape 20"/>
          <p:cNvSpPr/>
          <p:nvPr/>
        </p:nvSpPr>
        <p:spPr>
          <a:xfrm flipV="1">
            <a:off x="5093574" y="2905963"/>
            <a:ext cx="79370" cy="87051"/>
          </a:xfrm>
          <a:prstGeom prst="line">
            <a:avLst/>
          </a:prstGeom>
          <a:noFill/>
          <a:ln w="25400">
            <a:solidFill>
              <a:schemeClr val="bg1"/>
            </a:solidFill>
            <a:prstDash val="solid"/>
          </a:ln>
        </p:spPr>
      </p:sp>
      <p:sp>
        <p:nvSpPr>
          <p:cNvPr id="23" name="Text 21"/>
          <p:cNvSpPr txBox="1"/>
          <p:nvPr/>
        </p:nvSpPr>
        <p:spPr>
          <a:xfrm>
            <a:off x="5367528" y="2788920"/>
            <a:ext cx="3154680" cy="310896"/>
          </a:xfrm>
          <a:prstGeom prst="rect">
            <a:avLst/>
          </a:prstGeom>
          <a:noFill/>
          <a:ln/>
        </p:spPr>
        <p:txBody>
          <a:bodyPr wrap="square" lIns="0" tIns="0" rIns="0" bIns="0" rtlCol="0" anchor="ctr"/>
          <a:lstStyle/>
          <a:p>
            <a:pPr indent="0" marL="0">
              <a:buNone/>
            </a:pPr>
            <a:r>
              <a:rPr lang="en-US" sz="1600" dirty="0">
                <a:solidFill>
                  <a:schemeClr val="tx1"/>
                </a:solidFill>
              </a:rPr>
              <a:t>Five roles</a:t>
            </a:r>
            <a:endParaRPr lang="en-US" sz="1600" dirty="0"/>
          </a:p>
        </p:txBody>
      </p:sp>
      <p:sp>
        <p:nvSpPr>
          <p:cNvPr id="24" name="Shape 22"/>
          <p:cNvSpPr/>
          <p:nvPr/>
        </p:nvSpPr>
        <p:spPr>
          <a:xfrm>
            <a:off x="4983480" y="3227832"/>
            <a:ext cx="256032" cy="256032"/>
          </a:xfrm>
          <a:prstGeom prst="ellipse">
            <a:avLst/>
          </a:prstGeom>
          <a:solidFill>
            <a:schemeClr val="tx2"/>
          </a:solidFill>
          <a:ln/>
        </p:spPr>
      </p:sp>
      <p:sp>
        <p:nvSpPr>
          <p:cNvPr id="25" name="Shape 23"/>
          <p:cNvSpPr/>
          <p:nvPr/>
        </p:nvSpPr>
        <p:spPr>
          <a:xfrm>
            <a:off x="5052609" y="3363529"/>
            <a:ext cx="40965" cy="40965"/>
          </a:xfrm>
          <a:prstGeom prst="line">
            <a:avLst/>
          </a:prstGeom>
          <a:noFill/>
          <a:ln w="25400">
            <a:solidFill>
              <a:schemeClr val="bg1"/>
            </a:solidFill>
            <a:prstDash val="solid"/>
          </a:ln>
        </p:spPr>
      </p:sp>
      <p:sp>
        <p:nvSpPr>
          <p:cNvPr id="26" name="Shape 24"/>
          <p:cNvSpPr/>
          <p:nvPr/>
        </p:nvSpPr>
        <p:spPr>
          <a:xfrm flipV="1">
            <a:off x="5093574" y="3317443"/>
            <a:ext cx="79370" cy="87051"/>
          </a:xfrm>
          <a:prstGeom prst="line">
            <a:avLst/>
          </a:prstGeom>
          <a:noFill/>
          <a:ln w="25400">
            <a:solidFill>
              <a:schemeClr val="bg1"/>
            </a:solidFill>
            <a:prstDash val="solid"/>
          </a:ln>
        </p:spPr>
      </p:sp>
      <p:sp>
        <p:nvSpPr>
          <p:cNvPr id="27" name="Text 25"/>
          <p:cNvSpPr txBox="1"/>
          <p:nvPr/>
        </p:nvSpPr>
        <p:spPr>
          <a:xfrm>
            <a:off x="5367528" y="3200400"/>
            <a:ext cx="3154680" cy="310896"/>
          </a:xfrm>
          <a:prstGeom prst="rect">
            <a:avLst/>
          </a:prstGeom>
          <a:noFill/>
          <a:ln/>
        </p:spPr>
        <p:txBody>
          <a:bodyPr wrap="square" lIns="0" tIns="0" rIns="0" bIns="0" rtlCol="0" anchor="ctr"/>
          <a:lstStyle/>
          <a:p>
            <a:pPr indent="0" marL="0">
              <a:buNone/>
            </a:pPr>
            <a:r>
              <a:rPr lang="en-US" sz="1600" dirty="0">
                <a:solidFill>
                  <a:schemeClr val="tx1"/>
                </a:solidFill>
              </a:rPr>
              <a:t>No self-approval</a:t>
            </a:r>
            <a:endParaRPr lang="en-US" sz="1600" dirty="0"/>
          </a:p>
        </p:txBody>
      </p:sp>
      <p:sp>
        <p:nvSpPr>
          <p:cNvPr id="28" name="Shape 26"/>
          <p:cNvSpPr/>
          <p:nvPr/>
        </p:nvSpPr>
        <p:spPr>
          <a:xfrm>
            <a:off x="4983480" y="3639312"/>
            <a:ext cx="256032" cy="256032"/>
          </a:xfrm>
          <a:prstGeom prst="ellipse">
            <a:avLst/>
          </a:prstGeom>
          <a:solidFill>
            <a:schemeClr val="tx2"/>
          </a:solidFill>
          <a:ln/>
        </p:spPr>
      </p:sp>
      <p:sp>
        <p:nvSpPr>
          <p:cNvPr id="29" name="Shape 27"/>
          <p:cNvSpPr/>
          <p:nvPr/>
        </p:nvSpPr>
        <p:spPr>
          <a:xfrm>
            <a:off x="5052609" y="3775009"/>
            <a:ext cx="40965" cy="40965"/>
          </a:xfrm>
          <a:prstGeom prst="line">
            <a:avLst/>
          </a:prstGeom>
          <a:noFill/>
          <a:ln w="25400">
            <a:solidFill>
              <a:schemeClr val="bg1"/>
            </a:solidFill>
            <a:prstDash val="solid"/>
          </a:ln>
        </p:spPr>
      </p:sp>
      <p:sp>
        <p:nvSpPr>
          <p:cNvPr id="30" name="Shape 28"/>
          <p:cNvSpPr/>
          <p:nvPr/>
        </p:nvSpPr>
        <p:spPr>
          <a:xfrm flipV="1">
            <a:off x="5093574" y="3728923"/>
            <a:ext cx="79370" cy="87051"/>
          </a:xfrm>
          <a:prstGeom prst="line">
            <a:avLst/>
          </a:prstGeom>
          <a:noFill/>
          <a:ln w="25400">
            <a:solidFill>
              <a:schemeClr val="bg1"/>
            </a:solidFill>
            <a:prstDash val="solid"/>
          </a:ln>
        </p:spPr>
      </p:sp>
      <p:sp>
        <p:nvSpPr>
          <p:cNvPr id="31" name="Text 29"/>
          <p:cNvSpPr txBox="1"/>
          <p:nvPr/>
        </p:nvSpPr>
        <p:spPr>
          <a:xfrm>
            <a:off x="5367528" y="3611880"/>
            <a:ext cx="3154680" cy="310896"/>
          </a:xfrm>
          <a:prstGeom prst="rect">
            <a:avLst/>
          </a:prstGeom>
          <a:noFill/>
          <a:ln/>
        </p:spPr>
        <p:txBody>
          <a:bodyPr wrap="square" lIns="0" tIns="0" rIns="0" bIns="0" rtlCol="0" anchor="ctr"/>
          <a:lstStyle/>
          <a:p>
            <a:pPr indent="0" marL="0">
              <a:buNone/>
            </a:pPr>
            <a:r>
              <a:rPr lang="en-US" sz="1600" dirty="0">
                <a:solidFill>
                  <a:schemeClr val="tx1"/>
                </a:solidFill>
              </a:rPr>
              <a:t>Stock rechecked before execution</a:t>
            </a:r>
            <a:endParaRPr lang="en-US" sz="1600" dirty="0"/>
          </a:p>
        </p:txBody>
      </p:sp>
      <p:sp>
        <p:nvSpPr>
          <p:cNvPr id="32" name="Text 30"/>
          <p:cNvSpPr txBox="1"/>
          <p:nvPr/>
        </p:nvSpPr>
        <p:spPr>
          <a:xfrm>
            <a:off x="457200" y="4224528"/>
            <a:ext cx="8229600" cy="292608"/>
          </a:xfrm>
          <a:prstGeom prst="rect">
            <a:avLst/>
          </a:prstGeom>
          <a:noFill/>
          <a:ln/>
        </p:spPr>
        <p:txBody>
          <a:bodyPr wrap="square" lIns="0" tIns="0" rIns="0" bIns="0" rtlCol="0" anchor="t"/>
          <a:lstStyle/>
          <a:p>
            <a:pPr indent="0" marL="0">
              <a:buNone/>
            </a:pPr>
            <a:r>
              <a:rPr lang="en-US" sz="1500" b="1" dirty="0">
                <a:solidFill>
                  <a:schemeClr val="tx1"/>
                </a:solidFill>
              </a:rPr>
              <a:t>Full audit trail</a:t>
            </a:r>
            <a:pPr indent="0" marL="0">
              <a:buNone/>
            </a:pPr>
            <a:r>
              <a:rPr lang="en-US" sz="1500" dirty="0">
                <a:solidFill>
                  <a:schemeClr val="tx1"/>
                </a:solidFill>
              </a:rPr>
              <a:t> for every step.</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Market Potential and Business Model</a:t>
            </a:r>
            <a:pPr algn="l" indent="0" marL="0">
              <a:buNone/>
            </a:pPr>
            <a:r>
              <a:rPr lang="en-US" sz="1200" b="1" dirty="0">
                <a:solidFill>
                  <a:schemeClr val="accent2"/>
                </a:solidFill>
              </a:rPr>
              <a:t>  ·  Competitors and edge</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A control tower you can trust, and prove live.</a:t>
            </a:r>
            <a:endParaRPr lang="en-US" sz="2600" dirty="0"/>
          </a:p>
        </p:txBody>
      </p:sp>
      <p:sp>
        <p:nvSpPr>
          <p:cNvPr id="4" name="Shape 2"/>
          <p:cNvSpPr/>
          <p:nvPr/>
        </p:nvSpPr>
        <p:spPr>
          <a:xfrm>
            <a:off x="457200" y="2057400"/>
            <a:ext cx="1499616" cy="1325880"/>
          </a:xfrm>
          <a:prstGeom prst="roundRect">
            <a:avLst>
              <a:gd name="adj" fmla="val 5517"/>
            </a:avLst>
          </a:prstGeom>
          <a:solidFill>
            <a:schemeClr val="bg2"/>
          </a:solidFill>
          <a:ln/>
        </p:spPr>
      </p:sp>
      <p:sp>
        <p:nvSpPr>
          <p:cNvPr id="5" name="Text 3"/>
          <p:cNvSpPr txBox="1"/>
          <p:nvPr/>
        </p:nvSpPr>
        <p:spPr>
          <a:xfrm>
            <a:off x="576072" y="2185416"/>
            <a:ext cx="1280160" cy="777240"/>
          </a:xfrm>
          <a:prstGeom prst="rect">
            <a:avLst/>
          </a:prstGeom>
          <a:noFill/>
          <a:ln/>
        </p:spPr>
        <p:txBody>
          <a:bodyPr wrap="square" lIns="0" tIns="0" rIns="0" bIns="0" rtlCol="0" anchor="t"/>
          <a:lstStyle/>
          <a:p>
            <a:pPr indent="0" marL="0">
              <a:buNone/>
            </a:pPr>
            <a:r>
              <a:rPr lang="en-US" sz="1500" b="1" dirty="0">
                <a:solidFill>
                  <a:schemeClr val="tx1"/>
                </a:solidFill>
              </a:rPr>
              <a:t>Guardrailed AI</a:t>
            </a:r>
            <a:endParaRPr lang="en-US" sz="1500" dirty="0"/>
          </a:p>
        </p:txBody>
      </p:sp>
      <p:sp>
        <p:nvSpPr>
          <p:cNvPr id="6" name="Text 4"/>
          <p:cNvSpPr txBox="1"/>
          <p:nvPr/>
        </p:nvSpPr>
        <p:spPr>
          <a:xfrm>
            <a:off x="576072" y="3054096"/>
            <a:ext cx="1316736" cy="219456"/>
          </a:xfrm>
          <a:prstGeom prst="rect">
            <a:avLst/>
          </a:prstGeom>
          <a:noFill/>
          <a:ln/>
        </p:spPr>
        <p:txBody>
          <a:bodyPr wrap="square" lIns="0" tIns="0" rIns="0" bIns="0" rtlCol="0" anchor="t"/>
          <a:lstStyle/>
          <a:p>
            <a:pPr indent="0" marL="0">
              <a:buNone/>
            </a:pPr>
            <a:r>
              <a:rPr lang="en-US" sz="1000" b="1" dirty="0">
                <a:solidFill>
                  <a:schemeClr val="tx1"/>
                </a:solidFill>
              </a:rPr>
              <a:t>✓ Live in demo</a:t>
            </a:r>
            <a:endParaRPr lang="en-US" sz="1000" dirty="0"/>
          </a:p>
        </p:txBody>
      </p:sp>
      <p:sp>
        <p:nvSpPr>
          <p:cNvPr id="7" name="Shape 5"/>
          <p:cNvSpPr/>
          <p:nvPr/>
        </p:nvSpPr>
        <p:spPr>
          <a:xfrm>
            <a:off x="2139696" y="2057400"/>
            <a:ext cx="1499616" cy="1325880"/>
          </a:xfrm>
          <a:prstGeom prst="roundRect">
            <a:avLst>
              <a:gd name="adj" fmla="val 5517"/>
            </a:avLst>
          </a:prstGeom>
          <a:solidFill>
            <a:schemeClr val="bg2"/>
          </a:solidFill>
          <a:ln/>
        </p:spPr>
      </p:sp>
      <p:sp>
        <p:nvSpPr>
          <p:cNvPr id="8" name="Text 6"/>
          <p:cNvSpPr txBox="1"/>
          <p:nvPr/>
        </p:nvSpPr>
        <p:spPr>
          <a:xfrm>
            <a:off x="2258568" y="2185416"/>
            <a:ext cx="1280160" cy="777240"/>
          </a:xfrm>
          <a:prstGeom prst="rect">
            <a:avLst/>
          </a:prstGeom>
          <a:noFill/>
          <a:ln/>
        </p:spPr>
        <p:txBody>
          <a:bodyPr wrap="square" lIns="0" tIns="0" rIns="0" bIns="0" rtlCol="0" anchor="t"/>
          <a:lstStyle/>
          <a:p>
            <a:pPr indent="0" marL="0">
              <a:buNone/>
            </a:pPr>
            <a:r>
              <a:rPr lang="en-US" sz="1500" b="1" dirty="0">
                <a:solidFill>
                  <a:schemeClr val="tx1"/>
                </a:solidFill>
              </a:rPr>
              <a:t>Do-no-harm recovery</a:t>
            </a:r>
            <a:endParaRPr lang="en-US" sz="1500" dirty="0"/>
          </a:p>
        </p:txBody>
      </p:sp>
      <p:sp>
        <p:nvSpPr>
          <p:cNvPr id="9" name="Text 7"/>
          <p:cNvSpPr txBox="1"/>
          <p:nvPr/>
        </p:nvSpPr>
        <p:spPr>
          <a:xfrm>
            <a:off x="2258568" y="3054096"/>
            <a:ext cx="1316736" cy="219456"/>
          </a:xfrm>
          <a:prstGeom prst="rect">
            <a:avLst/>
          </a:prstGeom>
          <a:noFill/>
          <a:ln/>
        </p:spPr>
        <p:txBody>
          <a:bodyPr wrap="square" lIns="0" tIns="0" rIns="0" bIns="0" rtlCol="0" anchor="t"/>
          <a:lstStyle/>
          <a:p>
            <a:pPr indent="0" marL="0">
              <a:buNone/>
            </a:pPr>
            <a:r>
              <a:rPr lang="en-US" sz="1000" b="1" dirty="0">
                <a:solidFill>
                  <a:schemeClr val="tx1"/>
                </a:solidFill>
              </a:rPr>
              <a:t>✓ Live in demo</a:t>
            </a:r>
            <a:endParaRPr lang="en-US" sz="1000" dirty="0"/>
          </a:p>
        </p:txBody>
      </p:sp>
      <p:sp>
        <p:nvSpPr>
          <p:cNvPr id="10" name="Shape 8"/>
          <p:cNvSpPr/>
          <p:nvPr/>
        </p:nvSpPr>
        <p:spPr>
          <a:xfrm>
            <a:off x="3822192" y="2057400"/>
            <a:ext cx="1499616" cy="1325880"/>
          </a:xfrm>
          <a:prstGeom prst="roundRect">
            <a:avLst>
              <a:gd name="adj" fmla="val 5517"/>
            </a:avLst>
          </a:prstGeom>
          <a:solidFill>
            <a:schemeClr val="bg2"/>
          </a:solidFill>
          <a:ln/>
        </p:spPr>
      </p:sp>
      <p:sp>
        <p:nvSpPr>
          <p:cNvPr id="11" name="Text 9"/>
          <p:cNvSpPr txBox="1"/>
          <p:nvPr/>
        </p:nvSpPr>
        <p:spPr>
          <a:xfrm>
            <a:off x="3941064" y="2185416"/>
            <a:ext cx="1280160" cy="777240"/>
          </a:xfrm>
          <a:prstGeom prst="rect">
            <a:avLst/>
          </a:prstGeom>
          <a:noFill/>
          <a:ln/>
        </p:spPr>
        <p:txBody>
          <a:bodyPr wrap="square" lIns="0" tIns="0" rIns="0" bIns="0" rtlCol="0" anchor="t"/>
          <a:lstStyle/>
          <a:p>
            <a:pPr indent="0" marL="0">
              <a:buNone/>
            </a:pPr>
            <a:r>
              <a:rPr lang="en-US" sz="1500" b="1" dirty="0">
                <a:solidFill>
                  <a:schemeClr val="tx1"/>
                </a:solidFill>
              </a:rPr>
              <a:t>Chaos button that proves safety live</a:t>
            </a:r>
            <a:endParaRPr lang="en-US" sz="1500" dirty="0"/>
          </a:p>
        </p:txBody>
      </p:sp>
      <p:sp>
        <p:nvSpPr>
          <p:cNvPr id="12" name="Text 10"/>
          <p:cNvSpPr txBox="1"/>
          <p:nvPr/>
        </p:nvSpPr>
        <p:spPr>
          <a:xfrm>
            <a:off x="3941064" y="3054096"/>
            <a:ext cx="1316736" cy="219456"/>
          </a:xfrm>
          <a:prstGeom prst="rect">
            <a:avLst/>
          </a:prstGeom>
          <a:noFill/>
          <a:ln/>
        </p:spPr>
        <p:txBody>
          <a:bodyPr wrap="square" lIns="0" tIns="0" rIns="0" bIns="0" rtlCol="0" anchor="t"/>
          <a:lstStyle/>
          <a:p>
            <a:pPr indent="0" marL="0">
              <a:buNone/>
            </a:pPr>
            <a:r>
              <a:rPr lang="en-US" sz="1000" b="1" dirty="0">
                <a:solidFill>
                  <a:schemeClr val="tx1"/>
                </a:solidFill>
              </a:rPr>
              <a:t>✓ Live in demo</a:t>
            </a:r>
            <a:endParaRPr lang="en-US" sz="1000" dirty="0"/>
          </a:p>
        </p:txBody>
      </p:sp>
      <p:sp>
        <p:nvSpPr>
          <p:cNvPr id="13" name="Shape 11"/>
          <p:cNvSpPr/>
          <p:nvPr/>
        </p:nvSpPr>
        <p:spPr>
          <a:xfrm>
            <a:off x="5504688" y="2057400"/>
            <a:ext cx="1499616" cy="1325880"/>
          </a:xfrm>
          <a:prstGeom prst="roundRect">
            <a:avLst>
              <a:gd name="adj" fmla="val 5517"/>
            </a:avLst>
          </a:prstGeom>
          <a:solidFill>
            <a:schemeClr val="bg2"/>
          </a:solidFill>
          <a:ln/>
        </p:spPr>
      </p:sp>
      <p:sp>
        <p:nvSpPr>
          <p:cNvPr id="14" name="Text 12"/>
          <p:cNvSpPr txBox="1"/>
          <p:nvPr/>
        </p:nvSpPr>
        <p:spPr>
          <a:xfrm>
            <a:off x="5623560" y="2185416"/>
            <a:ext cx="1280160" cy="777240"/>
          </a:xfrm>
          <a:prstGeom prst="rect">
            <a:avLst/>
          </a:prstGeom>
          <a:noFill/>
          <a:ln/>
        </p:spPr>
        <p:txBody>
          <a:bodyPr wrap="square" lIns="0" tIns="0" rIns="0" bIns="0" rtlCol="0" anchor="t"/>
          <a:lstStyle/>
          <a:p>
            <a:pPr indent="0" marL="0">
              <a:buNone/>
            </a:pPr>
            <a:r>
              <a:rPr lang="en-US" sz="1500" b="1" dirty="0">
                <a:solidFill>
                  <a:schemeClr val="tx1"/>
                </a:solidFill>
              </a:rPr>
              <a:t>Visible separation of duties</a:t>
            </a:r>
            <a:endParaRPr lang="en-US" sz="1500" dirty="0"/>
          </a:p>
        </p:txBody>
      </p:sp>
      <p:sp>
        <p:nvSpPr>
          <p:cNvPr id="15" name="Text 13"/>
          <p:cNvSpPr txBox="1"/>
          <p:nvPr/>
        </p:nvSpPr>
        <p:spPr>
          <a:xfrm>
            <a:off x="5623560" y="3054096"/>
            <a:ext cx="1316736" cy="219456"/>
          </a:xfrm>
          <a:prstGeom prst="rect">
            <a:avLst/>
          </a:prstGeom>
          <a:noFill/>
          <a:ln/>
        </p:spPr>
        <p:txBody>
          <a:bodyPr wrap="square" lIns="0" tIns="0" rIns="0" bIns="0" rtlCol="0" anchor="t"/>
          <a:lstStyle/>
          <a:p>
            <a:pPr indent="0" marL="0">
              <a:buNone/>
            </a:pPr>
            <a:r>
              <a:rPr lang="en-US" sz="1000" b="1" dirty="0">
                <a:solidFill>
                  <a:schemeClr val="tx1"/>
                </a:solidFill>
              </a:rPr>
              <a:t>✓ Live in demo</a:t>
            </a:r>
            <a:endParaRPr lang="en-US" sz="1000" dirty="0"/>
          </a:p>
        </p:txBody>
      </p:sp>
      <p:sp>
        <p:nvSpPr>
          <p:cNvPr id="16" name="Shape 14"/>
          <p:cNvSpPr/>
          <p:nvPr/>
        </p:nvSpPr>
        <p:spPr>
          <a:xfrm>
            <a:off x="7187184" y="2057400"/>
            <a:ext cx="1499616" cy="1325880"/>
          </a:xfrm>
          <a:prstGeom prst="roundRect">
            <a:avLst>
              <a:gd name="adj" fmla="val 5517"/>
            </a:avLst>
          </a:prstGeom>
          <a:solidFill>
            <a:schemeClr val="bg2"/>
          </a:solidFill>
          <a:ln/>
        </p:spPr>
      </p:sp>
      <p:sp>
        <p:nvSpPr>
          <p:cNvPr id="17" name="Text 15"/>
          <p:cNvSpPr txBox="1"/>
          <p:nvPr/>
        </p:nvSpPr>
        <p:spPr>
          <a:xfrm>
            <a:off x="7306056" y="2185416"/>
            <a:ext cx="1280160" cy="777240"/>
          </a:xfrm>
          <a:prstGeom prst="rect">
            <a:avLst/>
          </a:prstGeom>
          <a:noFill/>
          <a:ln/>
        </p:spPr>
        <p:txBody>
          <a:bodyPr wrap="square" lIns="0" tIns="0" rIns="0" bIns="0" rtlCol="0" anchor="t"/>
          <a:lstStyle/>
          <a:p>
            <a:pPr indent="0" marL="0">
              <a:buNone/>
            </a:pPr>
            <a:r>
              <a:rPr lang="en-US" sz="1500" b="1" dirty="0">
                <a:solidFill>
                  <a:schemeClr val="tx1"/>
                </a:solidFill>
              </a:rPr>
              <a:t>Recheck before execution</a:t>
            </a:r>
            <a:endParaRPr lang="en-US" sz="1500" dirty="0"/>
          </a:p>
        </p:txBody>
      </p:sp>
      <p:sp>
        <p:nvSpPr>
          <p:cNvPr id="18" name="Text 16"/>
          <p:cNvSpPr txBox="1"/>
          <p:nvPr/>
        </p:nvSpPr>
        <p:spPr>
          <a:xfrm>
            <a:off x="7306056" y="3054096"/>
            <a:ext cx="1316736" cy="219456"/>
          </a:xfrm>
          <a:prstGeom prst="rect">
            <a:avLst/>
          </a:prstGeom>
          <a:noFill/>
          <a:ln/>
        </p:spPr>
        <p:txBody>
          <a:bodyPr wrap="square" lIns="0" tIns="0" rIns="0" bIns="0" rtlCol="0" anchor="t"/>
          <a:lstStyle/>
          <a:p>
            <a:pPr indent="0" marL="0">
              <a:buNone/>
            </a:pPr>
            <a:r>
              <a:rPr lang="en-US" sz="1000" b="1" dirty="0">
                <a:solidFill>
                  <a:schemeClr val="tx1"/>
                </a:solidFill>
              </a:rPr>
              <a:t>✓ Live in demo</a:t>
            </a:r>
            <a:endParaRPr lang="en-US" sz="1000" dirty="0"/>
          </a:p>
        </p:txBody>
      </p:sp>
      <p:sp>
        <p:nvSpPr>
          <p:cNvPr id="19" name="Text 17"/>
          <p:cNvSpPr txBox="1"/>
          <p:nvPr/>
        </p:nvSpPr>
        <p:spPr>
          <a:xfrm>
            <a:off x="457200" y="3593592"/>
            <a:ext cx="3657600" cy="256032"/>
          </a:xfrm>
          <a:prstGeom prst="rect">
            <a:avLst/>
          </a:prstGeom>
          <a:noFill/>
          <a:ln/>
        </p:spPr>
        <p:txBody>
          <a:bodyPr wrap="square" lIns="0" tIns="0" rIns="0" bIns="0" rtlCol="0" anchor="t"/>
          <a:lstStyle/>
          <a:p>
            <a:pPr indent="0" marL="0">
              <a:buNone/>
            </a:pPr>
            <a:r>
              <a:rPr lang="en-US" sz="1300" b="1" dirty="0">
                <a:solidFill>
                  <a:schemeClr val="accent2"/>
                </a:solidFill>
              </a:rPr>
              <a:t>Also live in the demo</a:t>
            </a:r>
            <a:endParaRPr lang="en-US" sz="1300" dirty="0"/>
          </a:p>
        </p:txBody>
      </p:sp>
      <p:sp>
        <p:nvSpPr>
          <p:cNvPr id="20" name="Shape 18"/>
          <p:cNvSpPr/>
          <p:nvPr/>
        </p:nvSpPr>
        <p:spPr>
          <a:xfrm>
            <a:off x="457200" y="3931920"/>
            <a:ext cx="2606040" cy="548640"/>
          </a:xfrm>
          <a:prstGeom prst="roundRect">
            <a:avLst>
              <a:gd name="adj" fmla="val 13333"/>
            </a:avLst>
          </a:prstGeom>
          <a:solidFill>
            <a:schemeClr val="bg1"/>
          </a:solidFill>
          <a:ln w="15875">
            <a:solidFill>
              <a:schemeClr val="accent5"/>
            </a:solidFill>
            <a:prstDash val="dash"/>
          </a:ln>
        </p:spPr>
      </p:sp>
      <p:sp>
        <p:nvSpPr>
          <p:cNvPr id="21" name="Text 19"/>
          <p:cNvSpPr txBox="1"/>
          <p:nvPr/>
        </p:nvSpPr>
        <p:spPr>
          <a:xfrm>
            <a:off x="457200" y="3931920"/>
            <a:ext cx="2606040" cy="548640"/>
          </a:xfrm>
          <a:prstGeom prst="rect">
            <a:avLst/>
          </a:prstGeom>
          <a:noFill/>
          <a:ln/>
        </p:spPr>
        <p:txBody>
          <a:bodyPr wrap="square" lIns="0" tIns="0" rIns="0" bIns="0" rtlCol="0" anchor="ctr"/>
          <a:lstStyle/>
          <a:p>
            <a:pPr algn="ctr" indent="0" marL="0">
              <a:buNone/>
            </a:pPr>
            <a:r>
              <a:rPr lang="en-US" sz="1500" dirty="0">
                <a:solidFill>
                  <a:schemeClr val="tx1"/>
                </a:solidFill>
              </a:rPr>
              <a:t>Stress test</a:t>
            </a:r>
            <a:endParaRPr lang="en-US" sz="1500" dirty="0"/>
          </a:p>
        </p:txBody>
      </p:sp>
      <p:sp>
        <p:nvSpPr>
          <p:cNvPr id="22" name="Shape 20"/>
          <p:cNvSpPr/>
          <p:nvPr/>
        </p:nvSpPr>
        <p:spPr>
          <a:xfrm>
            <a:off x="3268980" y="3931920"/>
            <a:ext cx="2606040" cy="548640"/>
          </a:xfrm>
          <a:prstGeom prst="roundRect">
            <a:avLst>
              <a:gd name="adj" fmla="val 13333"/>
            </a:avLst>
          </a:prstGeom>
          <a:solidFill>
            <a:schemeClr val="bg1"/>
          </a:solidFill>
          <a:ln w="15875">
            <a:solidFill>
              <a:schemeClr val="accent5"/>
            </a:solidFill>
            <a:prstDash val="dash"/>
          </a:ln>
        </p:spPr>
      </p:sp>
      <p:sp>
        <p:nvSpPr>
          <p:cNvPr id="23" name="Text 21"/>
          <p:cNvSpPr txBox="1"/>
          <p:nvPr/>
        </p:nvSpPr>
        <p:spPr>
          <a:xfrm>
            <a:off x="3268980" y="3931920"/>
            <a:ext cx="2606040" cy="548640"/>
          </a:xfrm>
          <a:prstGeom prst="rect">
            <a:avLst/>
          </a:prstGeom>
          <a:noFill/>
          <a:ln/>
        </p:spPr>
        <p:txBody>
          <a:bodyPr wrap="square" lIns="0" tIns="0" rIns="0" bIns="0" rtlCol="0" anchor="ctr"/>
          <a:lstStyle/>
          <a:p>
            <a:pPr algn="ctr" indent="0" marL="0">
              <a:buNone/>
            </a:pPr>
            <a:r>
              <a:rPr lang="en-US" sz="1500" dirty="0">
                <a:solidFill>
                  <a:schemeClr val="tx1"/>
                </a:solidFill>
              </a:rPr>
              <a:t>Ripple replay</a:t>
            </a:r>
            <a:endParaRPr lang="en-US" sz="1500" dirty="0"/>
          </a:p>
        </p:txBody>
      </p:sp>
      <p:sp>
        <p:nvSpPr>
          <p:cNvPr id="24" name="Shape 22"/>
          <p:cNvSpPr/>
          <p:nvPr/>
        </p:nvSpPr>
        <p:spPr>
          <a:xfrm>
            <a:off x="6080760" y="3931920"/>
            <a:ext cx="2606040" cy="548640"/>
          </a:xfrm>
          <a:prstGeom prst="roundRect">
            <a:avLst>
              <a:gd name="adj" fmla="val 13333"/>
            </a:avLst>
          </a:prstGeom>
          <a:solidFill>
            <a:schemeClr val="bg1"/>
          </a:solidFill>
          <a:ln w="15875">
            <a:solidFill>
              <a:schemeClr val="accent5"/>
            </a:solidFill>
            <a:prstDash val="dash"/>
          </a:ln>
        </p:spPr>
      </p:sp>
      <p:sp>
        <p:nvSpPr>
          <p:cNvPr id="25" name="Text 23"/>
          <p:cNvSpPr txBox="1"/>
          <p:nvPr/>
        </p:nvSpPr>
        <p:spPr>
          <a:xfrm>
            <a:off x="6080760" y="3931920"/>
            <a:ext cx="2606040" cy="548640"/>
          </a:xfrm>
          <a:prstGeom prst="rect">
            <a:avLst/>
          </a:prstGeom>
          <a:noFill/>
          <a:ln/>
        </p:spPr>
        <p:txBody>
          <a:bodyPr wrap="square" lIns="0" tIns="0" rIns="0" bIns="0" rtlCol="0" anchor="ctr"/>
          <a:lstStyle/>
          <a:p>
            <a:pPr algn="ctr" indent="0" marL="0">
              <a:buNone/>
            </a:pPr>
            <a:r>
              <a:rPr lang="en-US" sz="1500" dirty="0">
                <a:solidFill>
                  <a:schemeClr val="tx1"/>
                </a:solidFill>
              </a:rPr>
              <a:t>Fix preview on the map</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Future Scope</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From hours of spreadsheets to one decision.</a:t>
            </a:r>
            <a:endParaRPr lang="en-US" sz="2600" dirty="0"/>
          </a:p>
        </p:txBody>
      </p:sp>
      <p:sp>
        <p:nvSpPr>
          <p:cNvPr id="4" name="Shape 2"/>
          <p:cNvSpPr/>
          <p:nvPr/>
        </p:nvSpPr>
        <p:spPr>
          <a:xfrm>
            <a:off x="457200" y="2011680"/>
            <a:ext cx="4069080" cy="1965960"/>
          </a:xfrm>
          <a:prstGeom prst="roundRect">
            <a:avLst>
              <a:gd name="adj" fmla="val 4651"/>
            </a:avLst>
          </a:prstGeom>
          <a:solidFill>
            <a:schemeClr val="bg2"/>
          </a:solidFill>
          <a:ln/>
        </p:spPr>
      </p:sp>
      <p:sp>
        <p:nvSpPr>
          <p:cNvPr id="5" name="Text 3"/>
          <p:cNvSpPr txBox="1"/>
          <p:nvPr/>
        </p:nvSpPr>
        <p:spPr>
          <a:xfrm>
            <a:off x="731520" y="2157984"/>
            <a:ext cx="3566160" cy="256032"/>
          </a:xfrm>
          <a:prstGeom prst="rect">
            <a:avLst/>
          </a:prstGeom>
          <a:noFill/>
          <a:ln/>
        </p:spPr>
        <p:txBody>
          <a:bodyPr wrap="square" lIns="0" tIns="0" rIns="0" bIns="0" rtlCol="0" anchor="t"/>
          <a:lstStyle/>
          <a:p>
            <a:pPr indent="0" marL="0">
              <a:buNone/>
            </a:pPr>
            <a:r>
              <a:rPr lang="en-US" sz="1300" b="1" dirty="0">
                <a:solidFill>
                  <a:schemeClr val="accent2"/>
                </a:solidFill>
              </a:rPr>
              <a:t>Demo result</a:t>
            </a:r>
            <a:endParaRPr lang="en-US" sz="1300" dirty="0"/>
          </a:p>
        </p:txBody>
      </p:sp>
      <p:sp>
        <p:nvSpPr>
          <p:cNvPr id="6" name="Text 4"/>
          <p:cNvSpPr txBox="1"/>
          <p:nvPr/>
        </p:nvSpPr>
        <p:spPr>
          <a:xfrm>
            <a:off x="731520" y="2450592"/>
            <a:ext cx="3566160" cy="420624"/>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&lt; 5 s</a:t>
            </a:r>
            <a:endParaRPr lang="en-US" sz="2400" dirty="0"/>
          </a:p>
        </p:txBody>
      </p:sp>
      <p:sp>
        <p:nvSpPr>
          <p:cNvPr id="7" name="Text 5"/>
          <p:cNvSpPr txBox="1"/>
          <p:nvPr/>
        </p:nvSpPr>
        <p:spPr>
          <a:xfrm>
            <a:off x="731520" y="2862072"/>
            <a:ext cx="3566160" cy="256032"/>
          </a:xfrm>
          <a:prstGeom prst="rect">
            <a:avLst/>
          </a:prstGeom>
          <a:noFill/>
          <a:ln/>
        </p:spPr>
        <p:txBody>
          <a:bodyPr wrap="square" lIns="0" tIns="0" rIns="0" bIns="0" rtlCol="0" anchor="t"/>
          <a:lstStyle/>
          <a:p>
            <a:pPr indent="0" marL="0">
              <a:buNone/>
            </a:pPr>
            <a:r>
              <a:rPr lang="en-US" sz="1400" dirty="0">
                <a:solidFill>
                  <a:schemeClr val="accent2"/>
                </a:solidFill>
              </a:rPr>
              <a:t>Alert → checked, ranked options</a:t>
            </a:r>
            <a:endParaRPr lang="en-US" sz="1400" dirty="0"/>
          </a:p>
        </p:txBody>
      </p:sp>
      <p:sp>
        <p:nvSpPr>
          <p:cNvPr id="8" name="Text 6"/>
          <p:cNvSpPr txBox="1"/>
          <p:nvPr/>
        </p:nvSpPr>
        <p:spPr>
          <a:xfrm>
            <a:off x="731520" y="3200400"/>
            <a:ext cx="3566160" cy="420624"/>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₹15.6 L → ₹0</a:t>
            </a:r>
            <a:endParaRPr lang="en-US" sz="2400" dirty="0"/>
          </a:p>
        </p:txBody>
      </p:sp>
      <p:sp>
        <p:nvSpPr>
          <p:cNvPr id="9" name="Text 7"/>
          <p:cNvSpPr txBox="1"/>
          <p:nvPr/>
        </p:nvSpPr>
        <p:spPr>
          <a:xfrm>
            <a:off x="731520" y="3611880"/>
            <a:ext cx="3566160" cy="256032"/>
          </a:xfrm>
          <a:prstGeom prst="rect">
            <a:avLst/>
          </a:prstGeom>
          <a:noFill/>
          <a:ln/>
        </p:spPr>
        <p:txBody>
          <a:bodyPr wrap="square" lIns="0" tIns="0" rIns="0" bIns="0" rtlCol="0" anchor="t"/>
          <a:lstStyle/>
          <a:p>
            <a:pPr indent="0" marL="0">
              <a:buNone/>
            </a:pPr>
            <a:r>
              <a:rPr lang="en-US" sz="1400" dirty="0">
                <a:solidFill>
                  <a:schemeClr val="accent2"/>
                </a:solidFill>
              </a:rPr>
              <a:t>7-day loss: wait vs fix today</a:t>
            </a:r>
            <a:endParaRPr lang="en-US" sz="1400" dirty="0"/>
          </a:p>
        </p:txBody>
      </p:sp>
      <p:sp>
        <p:nvSpPr>
          <p:cNvPr id="10" name="Text 8"/>
          <p:cNvSpPr txBox="1"/>
          <p:nvPr/>
        </p:nvSpPr>
        <p:spPr>
          <a:xfrm>
            <a:off x="4892040" y="2157984"/>
            <a:ext cx="3794760" cy="256032"/>
          </a:xfrm>
          <a:prstGeom prst="rect">
            <a:avLst/>
          </a:prstGeom>
          <a:noFill/>
          <a:ln/>
        </p:spPr>
        <p:txBody>
          <a:bodyPr wrap="square" lIns="0" tIns="0" rIns="0" bIns="0" rtlCol="0" anchor="t"/>
          <a:lstStyle/>
          <a:p>
            <a:pPr indent="0" marL="0">
              <a:buNone/>
            </a:pPr>
            <a:r>
              <a:rPr lang="en-US" sz="1300" b="1" dirty="0">
                <a:solidFill>
                  <a:schemeClr val="accent2"/>
                </a:solidFill>
              </a:rPr>
              <a:t>Next</a:t>
            </a:r>
            <a:endParaRPr lang="en-US" sz="1300" dirty="0"/>
          </a:p>
        </p:txBody>
      </p:sp>
      <p:sp>
        <p:nvSpPr>
          <p:cNvPr id="11" name="Text 9"/>
          <p:cNvSpPr/>
          <p:nvPr/>
        </p:nvSpPr>
        <p:spPr>
          <a:xfrm>
            <a:off x="4892040" y="2542032"/>
            <a:ext cx="347472" cy="347472"/>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10"/>
          <p:cNvSpPr txBox="1"/>
          <p:nvPr/>
        </p:nvSpPr>
        <p:spPr>
          <a:xfrm>
            <a:off x="5376672" y="2542032"/>
            <a:ext cx="3310128" cy="347472"/>
          </a:xfrm>
          <a:prstGeom prst="rect">
            <a:avLst/>
          </a:prstGeom>
          <a:noFill/>
          <a:ln/>
        </p:spPr>
        <p:txBody>
          <a:bodyPr wrap="square" lIns="0" tIns="0" rIns="0" bIns="0" rtlCol="0" anchor="ctr"/>
          <a:lstStyle/>
          <a:p>
            <a:pPr indent="0" marL="0">
              <a:buNone/>
            </a:pPr>
            <a:r>
              <a:rPr lang="en-US" sz="1800" dirty="0">
                <a:solidFill>
                  <a:schemeClr val="tx1"/>
                </a:solidFill>
              </a:rPr>
              <a:t>Live carrier and ERP data</a:t>
            </a:r>
            <a:endParaRPr lang="en-US" sz="1800" dirty="0"/>
          </a:p>
        </p:txBody>
      </p:sp>
      <p:sp>
        <p:nvSpPr>
          <p:cNvPr id="13" name="Text 11"/>
          <p:cNvSpPr/>
          <p:nvPr/>
        </p:nvSpPr>
        <p:spPr>
          <a:xfrm>
            <a:off x="4892040" y="3017520"/>
            <a:ext cx="347472" cy="347472"/>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5376672" y="3017520"/>
            <a:ext cx="3310128" cy="347472"/>
          </a:xfrm>
          <a:prstGeom prst="rect">
            <a:avLst/>
          </a:prstGeom>
          <a:noFill/>
          <a:ln/>
        </p:spPr>
        <p:txBody>
          <a:bodyPr wrap="square" lIns="0" tIns="0" rIns="0" bIns="0" rtlCol="0" anchor="ctr"/>
          <a:lstStyle/>
          <a:p>
            <a:pPr indent="0" marL="0">
              <a:buNone/>
            </a:pPr>
            <a:r>
              <a:rPr lang="en-US" sz="1800" dirty="0">
                <a:solidFill>
                  <a:schemeClr val="tx1"/>
                </a:solidFill>
              </a:rPr>
              <a:t>Delay-prediction model</a:t>
            </a:r>
            <a:endParaRPr lang="en-US" sz="1800" dirty="0"/>
          </a:p>
        </p:txBody>
      </p:sp>
      <p:sp>
        <p:nvSpPr>
          <p:cNvPr id="15" name="Text 13"/>
          <p:cNvSpPr/>
          <p:nvPr/>
        </p:nvSpPr>
        <p:spPr>
          <a:xfrm>
            <a:off x="4892040" y="3493008"/>
            <a:ext cx="347472" cy="347472"/>
          </a:xfrm>
          <a:prstGeom prst="ellipse">
            <a:avLst/>
          </a:prstGeom>
          <a:solidFill>
            <a:schemeClr val="tx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5376672" y="3493008"/>
            <a:ext cx="3310128" cy="347472"/>
          </a:xfrm>
          <a:prstGeom prst="rect">
            <a:avLst/>
          </a:prstGeom>
          <a:noFill/>
          <a:ln/>
        </p:spPr>
        <p:txBody>
          <a:bodyPr wrap="square" lIns="0" tIns="0" rIns="0" bIns="0" rtlCol="0" anchor="ctr"/>
          <a:lstStyle/>
          <a:p>
            <a:pPr indent="0" marL="0">
              <a:buNone/>
            </a:pPr>
            <a:r>
              <a:rPr lang="en-US" sz="1800" dirty="0">
                <a:solidFill>
                  <a:schemeClr val="tx1"/>
                </a:solidFill>
              </a:rPr>
              <a:t>Spending limits, WhatsApp approvals</a:t>
            </a:r>
            <a:endParaRPr lang="en-US" sz="1800" dirty="0"/>
          </a:p>
        </p:txBody>
      </p:sp>
      <p:sp>
        <p:nvSpPr>
          <p:cNvPr id="17" name="Text 15"/>
          <p:cNvSpPr txBox="1"/>
          <p:nvPr/>
        </p:nvSpPr>
        <p:spPr>
          <a:xfrm>
            <a:off x="457200" y="4133088"/>
            <a:ext cx="8229600" cy="41148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Thank you. Questions?</a:t>
            </a:r>
            <a:endParaRPr lang="en-US" sz="2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Backup</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One app, one database, one rules engine.</a:t>
            </a:r>
            <a:endParaRPr lang="en-US" sz="2600" dirty="0"/>
          </a:p>
        </p:txBody>
      </p:sp>
      <p:sp>
        <p:nvSpPr>
          <p:cNvPr id="4" name="Text 2"/>
          <p:cNvSpPr/>
          <p:nvPr/>
        </p:nvSpPr>
        <p:spPr>
          <a:xfrm>
            <a:off x="457200" y="1965960"/>
            <a:ext cx="1417320" cy="502920"/>
          </a:xfrm>
          <a:prstGeom prst="roundRect">
            <a:avLst>
              <a:gd name="adj" fmla="val 10909"/>
            </a:avLst>
          </a:prstGeom>
          <a:solidFill>
            <a:schemeClr val="bg1"/>
          </a:solidFill>
          <a:ln w="15875">
            <a:solidFill>
              <a:schemeClr val="accent5"/>
            </a:solidFill>
          </a:ln>
        </p:spPr>
        <p:txBody>
          <a:bodyPr wrap="square" lIns="76200" tIns="76200" rIns="76200" bIns="76200" rtlCol="0" anchor="ctr"/>
          <a:lstStyle/>
          <a:p>
            <a:pPr algn="ctr" indent="0" marL="0">
              <a:buNone/>
            </a:pPr>
            <a:r>
              <a:rPr lang="en-US" sz="1300" dirty="0">
                <a:solidFill>
                  <a:schemeClr val="tx1"/>
                </a:solidFill>
              </a:rPr>
              <a:t>Carrier webhook</a:t>
            </a:r>
            <a:endParaRPr lang="en-US" sz="1300" dirty="0"/>
          </a:p>
        </p:txBody>
      </p:sp>
      <p:sp>
        <p:nvSpPr>
          <p:cNvPr id="5" name="Text 3"/>
          <p:cNvSpPr/>
          <p:nvPr/>
        </p:nvSpPr>
        <p:spPr>
          <a:xfrm>
            <a:off x="457200" y="2651760"/>
            <a:ext cx="1417320" cy="502920"/>
          </a:xfrm>
          <a:prstGeom prst="roundRect">
            <a:avLst>
              <a:gd name="adj" fmla="val 10909"/>
            </a:avLst>
          </a:prstGeom>
          <a:solidFill>
            <a:schemeClr val="bg1"/>
          </a:solidFill>
          <a:ln w="15875">
            <a:solidFill>
              <a:schemeClr val="accent5"/>
            </a:solidFill>
          </a:ln>
        </p:spPr>
        <p:txBody>
          <a:bodyPr wrap="square" lIns="76200" tIns="76200" rIns="76200" bIns="76200" rtlCol="0" anchor="ctr"/>
          <a:lstStyle/>
          <a:p>
            <a:pPr algn="ctr" indent="0" marL="0">
              <a:buNone/>
            </a:pPr>
            <a:r>
              <a:rPr lang="en-US" sz="1300" dirty="0">
                <a:solidFill>
                  <a:schemeClr val="tx1"/>
                </a:solidFill>
              </a:rPr>
              <a:t>CSV / JSON import</a:t>
            </a:r>
            <a:endParaRPr lang="en-US" sz="1300" dirty="0"/>
          </a:p>
        </p:txBody>
      </p:sp>
      <p:sp>
        <p:nvSpPr>
          <p:cNvPr id="6" name="Text 4"/>
          <p:cNvSpPr/>
          <p:nvPr/>
        </p:nvSpPr>
        <p:spPr>
          <a:xfrm>
            <a:off x="2240280" y="1965960"/>
            <a:ext cx="1508760" cy="1188720"/>
          </a:xfrm>
          <a:prstGeom prst="roundRect">
            <a:avLst>
              <a:gd name="adj" fmla="val 6154"/>
            </a:avLst>
          </a:prstGeom>
          <a:solidFill>
            <a:schemeClr val="bg1"/>
          </a:solidFill>
          <a:ln w="15875">
            <a:solidFill>
              <a:schemeClr val="accent5"/>
            </a:solidFill>
          </a:ln>
        </p:spPr>
        <p:txBody>
          <a:bodyPr wrap="square" lIns="76200" tIns="76200" rIns="76200" bIns="76200" rtlCol="0" anchor="ctr"/>
          <a:lstStyle/>
          <a:p>
            <a:pPr algn="ctr" indent="0" marL="0">
              <a:buNone/>
            </a:pPr>
            <a:r>
              <a:rPr lang="en-US" sz="1600" b="1" dirty="0">
                <a:solidFill>
                  <a:schemeClr val="tx1"/>
                </a:solidFill>
              </a:rPr>
              <a:t>API</a:t>
            </a:r>
            <a:endParaRPr lang="en-US" sz="1600" dirty="0"/>
          </a:p>
          <a:p>
            <a:pPr algn="ctr" indent="0" marL="0">
              <a:buNone/>
            </a:pPr>
            <a:r>
              <a:rPr lang="en-US" sz="1300" dirty="0">
                <a:solidFill>
                  <a:schemeClr val="tx1"/>
                </a:solidFill>
              </a:rPr>
              <a:t>role checks</a:t>
            </a:r>
            <a:endParaRPr lang="en-US" sz="1600" dirty="0"/>
          </a:p>
        </p:txBody>
      </p:sp>
      <p:sp>
        <p:nvSpPr>
          <p:cNvPr id="7" name="Text 5"/>
          <p:cNvSpPr/>
          <p:nvPr/>
        </p:nvSpPr>
        <p:spPr>
          <a:xfrm>
            <a:off x="4114800" y="1965960"/>
            <a:ext cx="2103120" cy="1188720"/>
          </a:xfrm>
          <a:prstGeom prst="roundRect">
            <a:avLst>
              <a:gd name="adj" fmla="val 6154"/>
            </a:avLst>
          </a:prstGeom>
          <a:solidFill>
            <a:schemeClr val="bg2"/>
          </a:solidFill>
          <a:ln w="12700">
            <a:solidFill>
              <a:schemeClr val="accent3"/>
            </a:solidFill>
          </a:ln>
        </p:spPr>
        <p:txBody>
          <a:bodyPr wrap="square" lIns="76200" tIns="76200" rIns="76200" bIns="76200" rtlCol="0" anchor="ctr"/>
          <a:lstStyle/>
          <a:p>
            <a:pPr algn="ctr" indent="0" marL="0">
              <a:buNone/>
            </a:pPr>
            <a:r>
              <a:rPr lang="en-US" sz="1600" b="1" dirty="0">
                <a:solidFill>
                  <a:schemeClr val="tx1"/>
                </a:solidFill>
              </a:rPr>
              <a:t>Rules engine</a:t>
            </a:r>
            <a:endParaRPr lang="en-US" sz="1600" dirty="0"/>
          </a:p>
          <a:p>
            <a:pPr algn="ctr" indent="0" marL="0">
              <a:buNone/>
            </a:pPr>
            <a:r>
              <a:rPr lang="en-US" sz="1300" dirty="0">
                <a:solidFill>
                  <a:schemeClr val="tx1"/>
                </a:solidFill>
              </a:rPr>
              <a:t>detect · impact</a:t>
            </a:r>
            <a:endParaRPr lang="en-US" sz="1600" dirty="0"/>
          </a:p>
          <a:p>
            <a:pPr algn="ctr" indent="0" marL="0">
              <a:buNone/>
            </a:pPr>
            <a:r>
              <a:rPr lang="en-US" sz="1300" dirty="0">
                <a:solidFill>
                  <a:schemeClr val="tx1"/>
                </a:solidFill>
              </a:rPr>
              <a:t>risk · options</a:t>
            </a:r>
            <a:endParaRPr lang="en-US" sz="1600" dirty="0"/>
          </a:p>
        </p:txBody>
      </p:sp>
      <p:sp>
        <p:nvSpPr>
          <p:cNvPr id="8" name="Text 6"/>
          <p:cNvSpPr/>
          <p:nvPr/>
        </p:nvSpPr>
        <p:spPr>
          <a:xfrm>
            <a:off x="6629400" y="1965960"/>
            <a:ext cx="2057400" cy="1188720"/>
          </a:xfrm>
          <a:prstGeom prst="can">
            <a:avLst/>
          </a:prstGeom>
          <a:solidFill>
            <a:schemeClr val="bg1"/>
          </a:solidFill>
          <a:ln w="15875">
            <a:solidFill>
              <a:schemeClr val="accent5"/>
            </a:solidFill>
          </a:ln>
        </p:spPr>
        <p:txBody>
          <a:bodyPr wrap="square" lIns="76200" tIns="76200" rIns="76200" bIns="76200" rtlCol="0" anchor="ctr"/>
          <a:lstStyle/>
          <a:p>
            <a:pPr algn="ctr" indent="0" marL="0">
              <a:buNone/>
            </a:pPr>
            <a:r>
              <a:rPr lang="en-US" sz="1600" b="1" dirty="0">
                <a:solidFill>
                  <a:schemeClr val="tx1"/>
                </a:solidFill>
              </a:rPr>
              <a:t>Postgres</a:t>
            </a:r>
            <a:endParaRPr lang="en-US" sz="1600" dirty="0"/>
          </a:p>
        </p:txBody>
      </p:sp>
      <p:sp>
        <p:nvSpPr>
          <p:cNvPr id="9" name="Text 7"/>
          <p:cNvSpPr/>
          <p:nvPr/>
        </p:nvSpPr>
        <p:spPr>
          <a:xfrm>
            <a:off x="2240280" y="3456432"/>
            <a:ext cx="1508760" cy="457200"/>
          </a:xfrm>
          <a:prstGeom prst="roundRect">
            <a:avLst>
              <a:gd name="adj" fmla="val 12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Dashboard</a:t>
            </a:r>
            <a:endParaRPr lang="en-US" sz="1400" dirty="0"/>
          </a:p>
        </p:txBody>
      </p:sp>
      <p:sp>
        <p:nvSpPr>
          <p:cNvPr id="10" name="Text 8"/>
          <p:cNvSpPr/>
          <p:nvPr/>
        </p:nvSpPr>
        <p:spPr>
          <a:xfrm>
            <a:off x="4114800" y="3456432"/>
            <a:ext cx="2103120" cy="457200"/>
          </a:xfrm>
          <a:prstGeom prst="roundRect">
            <a:avLst>
              <a:gd name="adj" fmla="val 12000"/>
            </a:avLst>
          </a:prstGeom>
          <a:solidFill>
            <a:schemeClr val="accent1"/>
          </a:solidFill>
          <a:ln/>
        </p:spPr>
        <p:txBody>
          <a:bodyPr wrap="square" lIns="76200" tIns="76200" rIns="76200" bIns="76200" rtlCol="0" anchor="ctr"/>
          <a:lstStyle/>
          <a:p>
            <a:pPr algn="ctr" indent="0" marL="0">
              <a:buNone/>
            </a:pPr>
            <a:r>
              <a:rPr lang="en-US" sz="1400" b="1" dirty="0">
                <a:solidFill>
                  <a:schemeClr val="bg1"/>
                </a:solidFill>
              </a:rPr>
              <a:t>AI layer (server only)</a:t>
            </a:r>
            <a:endParaRPr lang="en-US" sz="1400" dirty="0"/>
          </a:p>
        </p:txBody>
      </p:sp>
      <p:sp>
        <p:nvSpPr>
          <p:cNvPr id="11" name="Text 9"/>
          <p:cNvSpPr txBox="1"/>
          <p:nvPr/>
        </p:nvSpPr>
        <p:spPr>
          <a:xfrm>
            <a:off x="6400800" y="3456432"/>
            <a:ext cx="2286000" cy="457200"/>
          </a:xfrm>
          <a:prstGeom prst="rect">
            <a:avLst/>
          </a:prstGeom>
          <a:noFill/>
          <a:ln/>
        </p:spPr>
        <p:txBody>
          <a:bodyPr wrap="square" lIns="0" tIns="0" rIns="0" bIns="0" rtlCol="0" anchor="ctr"/>
          <a:lstStyle/>
          <a:p>
            <a:pPr indent="0" marL="0">
              <a:buNone/>
            </a:pPr>
            <a:r>
              <a:rPr lang="en-US" sz="1300" dirty="0">
                <a:solidFill>
                  <a:schemeClr val="accent2"/>
                </a:solidFill>
              </a:rPr>
              <a:t>Output checked against rule-built options</a:t>
            </a:r>
            <a:endParaRPr lang="en-US" sz="1300" dirty="0"/>
          </a:p>
        </p:txBody>
      </p:sp>
      <p:sp>
        <p:nvSpPr>
          <p:cNvPr id="12" name="Shape 10"/>
          <p:cNvSpPr/>
          <p:nvPr/>
        </p:nvSpPr>
        <p:spPr>
          <a:xfrm>
            <a:off x="1874520" y="2217420"/>
            <a:ext cx="347472" cy="0"/>
          </a:xfrm>
          <a:prstGeom prst="line">
            <a:avLst/>
          </a:prstGeom>
          <a:noFill/>
          <a:ln w="22225">
            <a:solidFill>
              <a:schemeClr val="accent5"/>
            </a:solidFill>
            <a:prstDash val="solid"/>
            <a:tailEnd type="triangle"/>
          </a:ln>
        </p:spPr>
      </p:sp>
      <p:sp>
        <p:nvSpPr>
          <p:cNvPr id="13" name="Shape 11"/>
          <p:cNvSpPr/>
          <p:nvPr/>
        </p:nvSpPr>
        <p:spPr>
          <a:xfrm>
            <a:off x="1874520" y="2903220"/>
            <a:ext cx="347472" cy="0"/>
          </a:xfrm>
          <a:prstGeom prst="line">
            <a:avLst/>
          </a:prstGeom>
          <a:noFill/>
          <a:ln w="22225">
            <a:solidFill>
              <a:schemeClr val="accent5"/>
            </a:solidFill>
            <a:prstDash val="solid"/>
            <a:tailEnd type="triangle"/>
          </a:ln>
        </p:spPr>
      </p:sp>
      <p:sp>
        <p:nvSpPr>
          <p:cNvPr id="14" name="Shape 12"/>
          <p:cNvSpPr/>
          <p:nvPr/>
        </p:nvSpPr>
        <p:spPr>
          <a:xfrm>
            <a:off x="3749040" y="2560320"/>
            <a:ext cx="347472" cy="0"/>
          </a:xfrm>
          <a:prstGeom prst="line">
            <a:avLst/>
          </a:prstGeom>
          <a:noFill/>
          <a:ln w="22225">
            <a:solidFill>
              <a:schemeClr val="accent5"/>
            </a:solidFill>
            <a:prstDash val="solid"/>
            <a:tailEnd type="triangle"/>
          </a:ln>
        </p:spPr>
      </p:sp>
      <p:sp>
        <p:nvSpPr>
          <p:cNvPr id="15" name="Shape 13"/>
          <p:cNvSpPr/>
          <p:nvPr/>
        </p:nvSpPr>
        <p:spPr>
          <a:xfrm>
            <a:off x="6217920" y="2560320"/>
            <a:ext cx="393192" cy="0"/>
          </a:xfrm>
          <a:prstGeom prst="line">
            <a:avLst/>
          </a:prstGeom>
          <a:noFill/>
          <a:ln w="22225">
            <a:solidFill>
              <a:schemeClr val="accent5"/>
            </a:solidFill>
            <a:prstDash val="solid"/>
            <a:headEnd type="triangle"/>
            <a:tailEnd type="triangle"/>
          </a:ln>
        </p:spPr>
      </p:sp>
      <p:sp>
        <p:nvSpPr>
          <p:cNvPr id="16" name="Shape 14"/>
          <p:cNvSpPr/>
          <p:nvPr/>
        </p:nvSpPr>
        <p:spPr>
          <a:xfrm>
            <a:off x="2994660" y="3154680"/>
            <a:ext cx="0" cy="283464"/>
          </a:xfrm>
          <a:prstGeom prst="line">
            <a:avLst/>
          </a:prstGeom>
          <a:noFill/>
          <a:ln w="22225">
            <a:solidFill>
              <a:schemeClr val="accent5"/>
            </a:solidFill>
            <a:prstDash val="solid"/>
            <a:tailEnd type="triangle"/>
          </a:ln>
        </p:spPr>
      </p:sp>
      <p:sp>
        <p:nvSpPr>
          <p:cNvPr id="17" name="Shape 15"/>
          <p:cNvSpPr/>
          <p:nvPr/>
        </p:nvSpPr>
        <p:spPr>
          <a:xfrm>
            <a:off x="4892040" y="3154680"/>
            <a:ext cx="0" cy="283464"/>
          </a:xfrm>
          <a:prstGeom prst="line">
            <a:avLst/>
          </a:prstGeom>
          <a:noFill/>
          <a:ln w="22225">
            <a:solidFill>
              <a:schemeClr val="accent5"/>
            </a:solidFill>
            <a:prstDash val="solid"/>
            <a:tailEnd type="triangle"/>
          </a:ln>
        </p:spPr>
      </p:sp>
      <p:sp>
        <p:nvSpPr>
          <p:cNvPr id="18" name="Shape 16"/>
          <p:cNvSpPr/>
          <p:nvPr/>
        </p:nvSpPr>
        <p:spPr>
          <a:xfrm flipV="1">
            <a:off x="5440680" y="3172968"/>
            <a:ext cx="0" cy="283464"/>
          </a:xfrm>
          <a:prstGeom prst="line">
            <a:avLst/>
          </a:prstGeom>
          <a:noFill/>
          <a:ln w="22225">
            <a:solidFill>
              <a:schemeClr val="accent1"/>
            </a:solidFill>
            <a:prstDash val="solid"/>
            <a:tailEnd type="triangle"/>
          </a:ln>
        </p:spPr>
      </p:sp>
      <p:sp>
        <p:nvSpPr>
          <p:cNvPr id="19" name="Text 17"/>
          <p:cNvSpPr txBox="1"/>
          <p:nvPr/>
        </p:nvSpPr>
        <p:spPr>
          <a:xfrm>
            <a:off x="457200" y="4087368"/>
            <a:ext cx="8229600" cy="256032"/>
          </a:xfrm>
          <a:prstGeom prst="rect">
            <a:avLst/>
          </a:prstGeom>
          <a:noFill/>
          <a:ln/>
        </p:spPr>
        <p:txBody>
          <a:bodyPr wrap="square" lIns="0" tIns="0" rIns="0" bIns="0" rtlCol="0" anchor="t"/>
          <a:lstStyle/>
          <a:p>
            <a:pPr indent="0" marL="0">
              <a:buNone/>
            </a:pPr>
            <a:r>
              <a:rPr lang="en-US" sz="1200" b="1" dirty="0">
                <a:solidFill>
                  <a:schemeClr val="tx1"/>
                </a:solidFill>
              </a:rPr>
              <a:t>Live demo: JavaScript page + Vercel serverless function + Google Gemini 3.5 Flash-Lite.  Full app: Next.js 15, React 19, TypeScript, Prisma, PostgreSQL.</a:t>
            </a:r>
            <a:endParaRPr lang="en-US" sz="1200" dirty="0"/>
          </a:p>
        </p:txBody>
      </p:sp>
      <p:sp>
        <p:nvSpPr>
          <p:cNvPr id="20" name="Text 18"/>
          <p:cNvSpPr txBox="1"/>
          <p:nvPr/>
        </p:nvSpPr>
        <p:spPr>
          <a:xfrm>
            <a:off x="457200" y="4434840"/>
            <a:ext cx="5486400" cy="228600"/>
          </a:xfrm>
          <a:prstGeom prst="rect">
            <a:avLst/>
          </a:prstGeom>
          <a:noFill/>
          <a:ln/>
        </p:spPr>
        <p:txBody>
          <a:bodyPr wrap="square" lIns="0" tIns="0" rIns="0" bIns="0" rtlCol="0" anchor="t"/>
          <a:lstStyle/>
          <a:p>
            <a:pPr indent="0" marL="0">
              <a:buNone/>
            </a:pPr>
            <a:r>
              <a:rPr lang="en-US" sz="1100" dirty="0">
                <a:solidFill>
                  <a:schemeClr val="tx1"/>
                </a:solidFill>
              </a:rPr>
              <a:t>disruptioniq.vercel.app   ·   github.com/RakeshKumar-18/disruptionIQ</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Stress test</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Break the network on purpose, before it breaks for real.</a:t>
            </a:r>
            <a:endParaRPr lang="en-US" sz="2600" dirty="0"/>
          </a:p>
        </p:txBody>
      </p:sp>
      <p:sp>
        <p:nvSpPr>
          <p:cNvPr id="6" name="Text 4"/>
          <p:cNvSpPr txBox="1"/>
          <p:nvPr/>
        </p:nvSpPr>
        <p:spPr>
          <a:xfrm>
            <a:off x="6080760" y="2103120"/>
            <a:ext cx="2606040" cy="320040"/>
          </a:xfrm>
          <a:prstGeom prst="rect">
            <a:avLst/>
          </a:prstGeom>
          <a:noFill/>
          <a:ln/>
        </p:spPr>
        <p:txBody>
          <a:bodyPr wrap="square" lIns="0" tIns="0" rIns="0" bIns="0" rtlCol="0" anchor="t"/>
          <a:lstStyle/>
          <a:p>
            <a:pPr indent="0" marL="0">
              <a:buNone/>
            </a:pPr>
            <a:r>
              <a:rPr lang="en-US" sz="1500" b="1" dirty="0">
                <a:solidFill>
                  <a:schemeClr val="accent2"/>
                </a:solidFill>
              </a:rPr>
              <a:t>Fail each site for 7 days</a:t>
            </a:r>
            <a:endParaRPr lang="en-US" sz="1500" dirty="0"/>
          </a:p>
        </p:txBody>
      </p:sp>
      <p:sp>
        <p:nvSpPr>
          <p:cNvPr id="7" name="Shape 5"/>
          <p:cNvSpPr/>
          <p:nvPr/>
        </p:nvSpPr>
        <p:spPr>
          <a:xfrm>
            <a:off x="6080760" y="2706624"/>
            <a:ext cx="109728" cy="109728"/>
          </a:xfrm>
          <a:prstGeom prst="ellipse">
            <a:avLst/>
          </a:prstGeom>
          <a:solidFill>
            <a:schemeClr val="accent1"/>
          </a:solidFill>
          <a:ln/>
        </p:spPr>
      </p:sp>
      <p:sp>
        <p:nvSpPr>
          <p:cNvPr id="8" name="Text 6"/>
          <p:cNvSpPr txBox="1"/>
          <p:nvPr/>
        </p:nvSpPr>
        <p:spPr>
          <a:xfrm>
            <a:off x="6327648" y="2606040"/>
            <a:ext cx="2377440" cy="310896"/>
          </a:xfrm>
          <a:prstGeom prst="rect">
            <a:avLst/>
          </a:prstGeom>
          <a:noFill/>
          <a:ln/>
        </p:spPr>
        <p:txBody>
          <a:bodyPr wrap="square" lIns="0" tIns="0" rIns="0" bIns="0" rtlCol="0" anchor="ctr"/>
          <a:lstStyle/>
          <a:p>
            <a:pPr indent="0" marL="0">
              <a:buNone/>
            </a:pPr>
            <a:r>
              <a:rPr lang="en-US" sz="1700" dirty="0">
                <a:solidFill>
                  <a:schemeClr val="tx1"/>
                </a:solidFill>
              </a:rPr>
              <a:t>₹ and orders hit</a:t>
            </a:r>
            <a:endParaRPr lang="en-US" sz="1700" dirty="0"/>
          </a:p>
        </p:txBody>
      </p:sp>
      <p:sp>
        <p:nvSpPr>
          <p:cNvPr id="9" name="Shape 7"/>
          <p:cNvSpPr/>
          <p:nvPr/>
        </p:nvSpPr>
        <p:spPr>
          <a:xfrm>
            <a:off x="6080760" y="3099816"/>
            <a:ext cx="109728" cy="109728"/>
          </a:xfrm>
          <a:prstGeom prst="ellipse">
            <a:avLst/>
          </a:prstGeom>
          <a:solidFill>
            <a:schemeClr val="accent1"/>
          </a:solidFill>
          <a:ln/>
        </p:spPr>
      </p:sp>
      <p:sp>
        <p:nvSpPr>
          <p:cNvPr id="10" name="Text 8"/>
          <p:cNvSpPr txBox="1"/>
          <p:nvPr/>
        </p:nvSpPr>
        <p:spPr>
          <a:xfrm>
            <a:off x="6327648" y="2999232"/>
            <a:ext cx="2377440" cy="310896"/>
          </a:xfrm>
          <a:prstGeom prst="rect">
            <a:avLst/>
          </a:prstGeom>
          <a:noFill/>
          <a:ln/>
        </p:spPr>
        <p:txBody>
          <a:bodyPr wrap="square" lIns="0" tIns="0" rIns="0" bIns="0" rtlCol="0" anchor="ctr"/>
          <a:lstStyle/>
          <a:p>
            <a:pPr indent="0" marL="0">
              <a:buNone/>
            </a:pPr>
            <a:r>
              <a:rPr lang="en-US" sz="1700" dirty="0">
                <a:solidFill>
                  <a:schemeClr val="tx1"/>
                </a:solidFill>
              </a:rPr>
              <a:t>Orders with no backup</a:t>
            </a:r>
            <a:endParaRPr lang="en-US" sz="1700" dirty="0"/>
          </a:p>
        </p:txBody>
      </p:sp>
      <p:sp>
        <p:nvSpPr>
          <p:cNvPr id="11" name="Shape 9"/>
          <p:cNvSpPr/>
          <p:nvPr/>
        </p:nvSpPr>
        <p:spPr>
          <a:xfrm>
            <a:off x="6080760" y="3493008"/>
            <a:ext cx="109728" cy="109728"/>
          </a:xfrm>
          <a:prstGeom prst="ellipse">
            <a:avLst/>
          </a:prstGeom>
          <a:solidFill>
            <a:schemeClr val="accent1"/>
          </a:solidFill>
          <a:ln/>
        </p:spPr>
      </p:sp>
      <p:sp>
        <p:nvSpPr>
          <p:cNvPr id="12" name="Text 10"/>
          <p:cNvSpPr txBox="1"/>
          <p:nvPr/>
        </p:nvSpPr>
        <p:spPr>
          <a:xfrm>
            <a:off x="6327648" y="3392424"/>
            <a:ext cx="2377440" cy="310896"/>
          </a:xfrm>
          <a:prstGeom prst="rect">
            <a:avLst/>
          </a:prstGeom>
          <a:noFill/>
          <a:ln/>
        </p:spPr>
        <p:txBody>
          <a:bodyPr wrap="square" lIns="0" tIns="0" rIns="0" bIns="0" rtlCol="0" anchor="ctr"/>
          <a:lstStyle/>
          <a:p>
            <a:pPr indent="0" marL="0">
              <a:buNone/>
            </a:pPr>
            <a:r>
              <a:rPr lang="en-US" sz="1700" dirty="0">
                <a:solidFill>
                  <a:schemeClr val="tx1"/>
                </a:solidFill>
              </a:rPr>
              <a:t>Top 3 weak spots</a:t>
            </a:r>
            <a:endParaRPr lang="en-US" sz="1700" dirty="0"/>
          </a:p>
        </p:txBody>
      </p:sp>
      <p:sp>
        <p:nvSpPr>
          <p:cNvPr id="13" name="Shape 11"/>
          <p:cNvSpPr/>
          <p:nvPr/>
        </p:nvSpPr>
        <p:spPr>
          <a:xfrm>
            <a:off x="6080760" y="3886200"/>
            <a:ext cx="109728" cy="109728"/>
          </a:xfrm>
          <a:prstGeom prst="ellipse">
            <a:avLst/>
          </a:prstGeom>
          <a:solidFill>
            <a:schemeClr val="accent1"/>
          </a:solidFill>
          <a:ln/>
        </p:spPr>
      </p:sp>
      <p:sp>
        <p:nvSpPr>
          <p:cNvPr id="14" name="Text 12"/>
          <p:cNvSpPr txBox="1"/>
          <p:nvPr/>
        </p:nvSpPr>
        <p:spPr>
          <a:xfrm>
            <a:off x="6327648" y="3785616"/>
            <a:ext cx="2377440" cy="310896"/>
          </a:xfrm>
          <a:prstGeom prst="rect">
            <a:avLst/>
          </a:prstGeom>
          <a:noFill/>
          <a:ln/>
        </p:spPr>
        <p:txBody>
          <a:bodyPr wrap="square" lIns="0" tIns="0" rIns="0" bIns="0" rtlCol="0" anchor="ctr"/>
          <a:lstStyle/>
          <a:p>
            <a:pPr indent="0" marL="0">
              <a:buNone/>
            </a:pPr>
            <a:r>
              <a:rPr lang="en-US" sz="1700" dirty="0">
                <a:solidFill>
                  <a:schemeClr val="tx1"/>
                </a:solidFill>
              </a:rPr>
              <a:t>A fix for each one</a:t>
            </a:r>
            <a:endParaRPr lang="en-US" sz="1700" dirty="0"/>
          </a:p>
        </p:txBody>
      </p:sp>
      <p:sp>
        <p:nvSpPr>
          <p:cNvPr id="15" name="Shape 13"/>
          <p:cNvSpPr/>
          <p:nvPr/>
        </p:nvSpPr>
        <p:spPr>
          <a:xfrm>
            <a:off x="6080760" y="4279392"/>
            <a:ext cx="109728" cy="109728"/>
          </a:xfrm>
          <a:prstGeom prst="ellipse">
            <a:avLst/>
          </a:prstGeom>
          <a:solidFill>
            <a:schemeClr val="accent1"/>
          </a:solidFill>
          <a:ln/>
        </p:spPr>
      </p:sp>
      <p:sp>
        <p:nvSpPr>
          <p:cNvPr id="16" name="Text 14"/>
          <p:cNvSpPr txBox="1"/>
          <p:nvPr/>
        </p:nvSpPr>
        <p:spPr>
          <a:xfrm>
            <a:off x="6327648" y="4178808"/>
            <a:ext cx="2377440" cy="310896"/>
          </a:xfrm>
          <a:prstGeom prst="rect">
            <a:avLst/>
          </a:prstGeom>
          <a:noFill/>
          <a:ln/>
        </p:spPr>
        <p:txBody>
          <a:bodyPr wrap="square" lIns="0" tIns="0" rIns="0" bIns="0" rtlCol="0" anchor="ctr"/>
          <a:lstStyle/>
          <a:p>
            <a:pPr indent="0" marL="0">
              <a:buNone/>
            </a:pPr>
            <a:r>
              <a:rPr lang="en-US" sz="1700" dirty="0">
                <a:solidFill>
                  <a:schemeClr val="tx1"/>
                </a:solidFill>
              </a:rPr>
              <a:t>Gemini explains it</a:t>
            </a:r>
            <a:endParaRPr lang="en-US" sz="1700" dirty="0"/>
          </a:p>
        </p:txBody>
      </p:sp>
      <p:pic>
        <p:nvPicPr>
          <p:cNvPr id="63" name="Screenshot 3" descr="Stress test map: fragility heat map, the three most fragile points and an AI explanation"/>
          <p:cNvPicPr>
            <a:picLocks noChangeAspect="1"/>
          </p:cNvPicPr>
          <p:nvPr/>
        </p:nvPicPr>
        <p:blipFill>
          <a:blip r:embed="rId2"/>
          <a:stretch>
            <a:fillRect/>
          </a:stretch>
        </p:blipFill>
        <p:spPr>
          <a:xfrm>
            <a:off x="457200" y="2057400"/>
            <a:ext cx="3394071" cy="2468880"/>
          </a:xfrm>
          <a:prstGeom prst="rect">
            <a:avLst/>
          </a:prstGeom>
          <a:ln w="9525">
            <a:solidFill>
              <a:srgbClr val="BFBFBF"/>
            </a:solidFill>
          </a:ln>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Ripple replay</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Every day of waiting has a price.</a:t>
            </a:r>
            <a:endParaRPr lang="en-US" sz="2600" dirty="0"/>
          </a:p>
        </p:txBody>
      </p:sp>
      <p:sp>
        <p:nvSpPr>
          <p:cNvPr id="6" name="Text 4"/>
          <p:cNvSpPr txBox="1"/>
          <p:nvPr/>
        </p:nvSpPr>
        <p:spPr>
          <a:xfrm>
            <a:off x="6080760" y="2103120"/>
            <a:ext cx="2606040" cy="320040"/>
          </a:xfrm>
          <a:prstGeom prst="rect">
            <a:avLst/>
          </a:prstGeom>
          <a:noFill/>
          <a:ln/>
        </p:spPr>
        <p:txBody>
          <a:bodyPr wrap="square" lIns="0" tIns="0" rIns="0" bIns="0" rtlCol="0" anchor="t"/>
          <a:lstStyle/>
          <a:p>
            <a:pPr indent="0" marL="0">
              <a:buNone/>
            </a:pPr>
            <a:r>
              <a:rPr lang="en-US" sz="1500" b="1" dirty="0">
                <a:solidFill>
                  <a:schemeClr val="accent2"/>
                </a:solidFill>
              </a:rPr>
              <a:t>Next 7 days, two futures</a:t>
            </a:r>
            <a:endParaRPr lang="en-US" sz="1500" dirty="0"/>
          </a:p>
        </p:txBody>
      </p:sp>
      <p:sp>
        <p:nvSpPr>
          <p:cNvPr id="7" name="Shape 5"/>
          <p:cNvSpPr/>
          <p:nvPr/>
        </p:nvSpPr>
        <p:spPr>
          <a:xfrm>
            <a:off x="6080760" y="2706624"/>
            <a:ext cx="109728" cy="109728"/>
          </a:xfrm>
          <a:prstGeom prst="ellipse">
            <a:avLst/>
          </a:prstGeom>
          <a:solidFill>
            <a:schemeClr val="accent1"/>
          </a:solidFill>
          <a:ln/>
        </p:spPr>
      </p:sp>
      <p:sp>
        <p:nvSpPr>
          <p:cNvPr id="8" name="Text 6"/>
          <p:cNvSpPr txBox="1"/>
          <p:nvPr/>
        </p:nvSpPr>
        <p:spPr>
          <a:xfrm>
            <a:off x="6327648" y="2606040"/>
            <a:ext cx="2377440" cy="310896"/>
          </a:xfrm>
          <a:prstGeom prst="rect">
            <a:avLst/>
          </a:prstGeom>
          <a:noFill/>
          <a:ln/>
        </p:spPr>
        <p:txBody>
          <a:bodyPr wrap="square" lIns="0" tIns="0" rIns="0" bIns="0" rtlCol="0" anchor="ctr"/>
          <a:lstStyle/>
          <a:p>
            <a:pPr indent="0" marL="0">
              <a:buNone/>
            </a:pPr>
            <a:r>
              <a:rPr lang="en-US" sz="1700" dirty="0">
                <a:solidFill>
                  <a:schemeClr val="tx1"/>
                </a:solidFill>
              </a:rPr>
              <a:t>Wait: ₹15.6 L lost</a:t>
            </a:r>
            <a:endParaRPr lang="en-US" sz="1700" dirty="0"/>
          </a:p>
        </p:txBody>
      </p:sp>
      <p:sp>
        <p:nvSpPr>
          <p:cNvPr id="9" name="Shape 7"/>
          <p:cNvSpPr/>
          <p:nvPr/>
        </p:nvSpPr>
        <p:spPr>
          <a:xfrm>
            <a:off x="6080760" y="3099816"/>
            <a:ext cx="109728" cy="109728"/>
          </a:xfrm>
          <a:prstGeom prst="ellipse">
            <a:avLst/>
          </a:prstGeom>
          <a:solidFill>
            <a:schemeClr val="accent1"/>
          </a:solidFill>
          <a:ln/>
        </p:spPr>
      </p:sp>
      <p:sp>
        <p:nvSpPr>
          <p:cNvPr id="10" name="Text 8"/>
          <p:cNvSpPr txBox="1"/>
          <p:nvPr/>
        </p:nvSpPr>
        <p:spPr>
          <a:xfrm>
            <a:off x="6327648" y="2999232"/>
            <a:ext cx="2377440" cy="310896"/>
          </a:xfrm>
          <a:prstGeom prst="rect">
            <a:avLst/>
          </a:prstGeom>
          <a:noFill/>
          <a:ln/>
        </p:spPr>
        <p:txBody>
          <a:bodyPr wrap="square" lIns="0" tIns="0" rIns="0" bIns="0" rtlCol="0" anchor="ctr"/>
          <a:lstStyle/>
          <a:p>
            <a:pPr indent="0" marL="0">
              <a:buNone/>
            </a:pPr>
            <a:r>
              <a:rPr lang="en-US" sz="1700" dirty="0">
                <a:solidFill>
                  <a:schemeClr val="tx1"/>
                </a:solidFill>
              </a:rPr>
              <a:t>Fix today: ₹0 lost</a:t>
            </a:r>
            <a:endParaRPr lang="en-US" sz="1700" dirty="0"/>
          </a:p>
        </p:txBody>
      </p:sp>
      <p:sp>
        <p:nvSpPr>
          <p:cNvPr id="11" name="Shape 9"/>
          <p:cNvSpPr/>
          <p:nvPr/>
        </p:nvSpPr>
        <p:spPr>
          <a:xfrm>
            <a:off x="6080760" y="3493008"/>
            <a:ext cx="109728" cy="109728"/>
          </a:xfrm>
          <a:prstGeom prst="ellipse">
            <a:avLst/>
          </a:prstGeom>
          <a:solidFill>
            <a:schemeClr val="accent1"/>
          </a:solidFill>
          <a:ln/>
        </p:spPr>
      </p:sp>
      <p:sp>
        <p:nvSpPr>
          <p:cNvPr id="12" name="Text 10"/>
          <p:cNvSpPr txBox="1"/>
          <p:nvPr/>
        </p:nvSpPr>
        <p:spPr>
          <a:xfrm>
            <a:off x="6327648" y="3392424"/>
            <a:ext cx="2377440" cy="310896"/>
          </a:xfrm>
          <a:prstGeom prst="rect">
            <a:avLst/>
          </a:prstGeom>
          <a:noFill/>
          <a:ln/>
        </p:spPr>
        <p:txBody>
          <a:bodyPr wrap="square" lIns="0" tIns="0" rIns="0" bIns="0" rtlCol="0" anchor="ctr"/>
          <a:lstStyle/>
          <a:p>
            <a:pPr indent="0" marL="0">
              <a:buNone/>
            </a:pPr>
            <a:r>
              <a:rPr lang="en-US" sz="1700" dirty="0">
                <a:solidFill>
                  <a:schemeClr val="tx1"/>
                </a:solidFill>
              </a:rPr>
              <a:t>Missed orders turn red</a:t>
            </a:r>
            <a:endParaRPr lang="en-US" sz="1700" dirty="0"/>
          </a:p>
        </p:txBody>
      </p:sp>
      <p:sp>
        <p:nvSpPr>
          <p:cNvPr id="13" name="Shape 11"/>
          <p:cNvSpPr/>
          <p:nvPr/>
        </p:nvSpPr>
        <p:spPr>
          <a:xfrm>
            <a:off x="6080760" y="3886200"/>
            <a:ext cx="109728" cy="109728"/>
          </a:xfrm>
          <a:prstGeom prst="ellipse">
            <a:avLst/>
          </a:prstGeom>
          <a:solidFill>
            <a:schemeClr val="accent1"/>
          </a:solidFill>
          <a:ln/>
        </p:spPr>
      </p:sp>
      <p:sp>
        <p:nvSpPr>
          <p:cNvPr id="14" name="Text 12"/>
          <p:cNvSpPr txBox="1"/>
          <p:nvPr/>
        </p:nvSpPr>
        <p:spPr>
          <a:xfrm>
            <a:off x="6327648" y="3785616"/>
            <a:ext cx="2377440" cy="310896"/>
          </a:xfrm>
          <a:prstGeom prst="rect">
            <a:avLst/>
          </a:prstGeom>
          <a:noFill/>
          <a:ln/>
        </p:spPr>
        <p:txBody>
          <a:bodyPr wrap="square" lIns="0" tIns="0" rIns="0" bIns="0" rtlCol="0" anchor="ctr"/>
          <a:lstStyle/>
          <a:p>
            <a:pPr indent="0" marL="0">
              <a:buNone/>
            </a:pPr>
            <a:r>
              <a:rPr lang="en-US" sz="1700" dirty="0">
                <a:solidFill>
                  <a:schemeClr val="tx1"/>
                </a:solidFill>
              </a:rPr>
              <a:t>Fixes expire over time</a:t>
            </a:r>
            <a:endParaRPr lang="en-US" sz="1700" dirty="0"/>
          </a:p>
        </p:txBody>
      </p:sp>
      <p:sp>
        <p:nvSpPr>
          <p:cNvPr id="15" name="Shape 13"/>
          <p:cNvSpPr/>
          <p:nvPr/>
        </p:nvSpPr>
        <p:spPr>
          <a:xfrm>
            <a:off x="6080760" y="4279392"/>
            <a:ext cx="109728" cy="109728"/>
          </a:xfrm>
          <a:prstGeom prst="ellipse">
            <a:avLst/>
          </a:prstGeom>
          <a:solidFill>
            <a:schemeClr val="accent1"/>
          </a:solidFill>
          <a:ln/>
        </p:spPr>
      </p:sp>
      <p:sp>
        <p:nvSpPr>
          <p:cNvPr id="16" name="Text 14"/>
          <p:cNvSpPr txBox="1"/>
          <p:nvPr/>
        </p:nvSpPr>
        <p:spPr>
          <a:xfrm>
            <a:off x="6327648" y="4178808"/>
            <a:ext cx="2377440" cy="310896"/>
          </a:xfrm>
          <a:prstGeom prst="rect">
            <a:avLst/>
          </a:prstGeom>
          <a:noFill/>
          <a:ln/>
        </p:spPr>
        <p:txBody>
          <a:bodyPr wrap="square" lIns="0" tIns="0" rIns="0" bIns="0" rtlCol="0" anchor="ctr"/>
          <a:lstStyle/>
          <a:p>
            <a:pPr indent="0" marL="0">
              <a:buNone/>
            </a:pPr>
            <a:r>
              <a:rPr lang="en-US" sz="1700" dirty="0">
                <a:solidFill>
                  <a:schemeClr val="tx1"/>
                </a:solidFill>
              </a:rPr>
              <a:t>Press play in the demo</a:t>
            </a:r>
            <a:endParaRPr lang="en-US" sz="1700" dirty="0"/>
          </a:p>
        </p:txBody>
      </p:sp>
      <p:pic>
        <p:nvPicPr>
          <p:cNvPr id="64" name="Screenshot 4" descr="Ripple replay at day 5: orders missed and value lost if nobody acts, with a chart against fixing today"/>
          <p:cNvPicPr>
            <a:picLocks noChangeAspect="1"/>
          </p:cNvPicPr>
          <p:nvPr/>
        </p:nvPicPr>
        <p:blipFill>
          <a:blip r:embed="rId2"/>
          <a:stretch>
            <a:fillRect/>
          </a:stretch>
        </p:blipFill>
        <p:spPr>
          <a:xfrm>
            <a:off x="457200" y="2139868"/>
            <a:ext cx="5257800" cy="2303943"/>
          </a:xfrm>
          <a:prstGeom prst="rect">
            <a:avLst/>
          </a:prstGeom>
          <a:ln w="9525">
            <a:solidFill>
              <a:srgbClr val="BFBFBF"/>
            </a:solidFill>
          </a:ln>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AI at every step</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Gemini briefs, advises, summarises and reports.</a:t>
            </a:r>
            <a:endParaRPr lang="en-US" sz="2600" dirty="0"/>
          </a:p>
        </p:txBody>
      </p:sp>
      <p:sp>
        <p:nvSpPr>
          <p:cNvPr id="4" name="Shape 2"/>
          <p:cNvSpPr/>
          <p:nvPr/>
        </p:nvSpPr>
        <p:spPr>
          <a:xfrm>
            <a:off x="457200" y="2057400"/>
            <a:ext cx="2834640" cy="2468880"/>
          </a:xfrm>
          <a:prstGeom prst="roundRect">
            <a:avLst>
              <a:gd name="adj" fmla="val 3704"/>
            </a:avLst>
          </a:prstGeom>
          <a:solidFill>
            <a:schemeClr val="accent4"/>
          </a:solidFill>
          <a:ln/>
        </p:spPr>
      </p:sp>
      <p:sp>
        <p:nvSpPr>
          <p:cNvPr id="5" name="Text 3"/>
          <p:cNvSpPr txBox="1"/>
          <p:nvPr/>
        </p:nvSpPr>
        <p:spPr>
          <a:xfrm>
            <a:off x="713232" y="2286000"/>
            <a:ext cx="237744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Rules do the maths</a:t>
            </a:r>
            <a:endParaRPr lang="en-US" sz="1300" dirty="0"/>
          </a:p>
        </p:txBody>
      </p:sp>
      <p:sp>
        <p:nvSpPr>
          <p:cNvPr id="6" name="Text 4"/>
          <p:cNvSpPr txBox="1"/>
          <p:nvPr/>
        </p:nvSpPr>
        <p:spPr>
          <a:xfrm>
            <a:off x="713232" y="2651760"/>
            <a:ext cx="2377440" cy="1691640"/>
          </a:xfrm>
          <a:prstGeom prst="rect">
            <a:avLst/>
          </a:prstGeom>
          <a:noFill/>
          <a:ln/>
        </p:spPr>
        <p:txBody>
          <a:bodyPr wrap="square" lIns="0" tIns="0" rIns="0" bIns="0" rtlCol="0" anchor="t"/>
          <a:lstStyle/>
          <a:p>
            <a:pPr indent="0" marL="0">
              <a:buNone/>
            </a:pPr>
            <a:r>
              <a:rPr lang="en-US" sz="1500" dirty="0">
                <a:solidFill>
                  <a:schemeClr val="tx1"/>
                </a:solidFill>
              </a:rPr>
              <a:t>Every number comes from the rules engine. Gemini only writes the words, and rule-based text takes over if the AI is unavailable.</a:t>
            </a:r>
            <a:endParaRPr lang="en-US" sz="1900" dirty="0"/>
          </a:p>
        </p:txBody>
      </p:sp>
      <p:pic>
        <p:nvPicPr>
          <p:cNvPr id="65" name="Screenshot 5" descr="Gemini morning briefing, approver summary and automatic incident report"/>
          <p:cNvPicPr>
            <a:picLocks noChangeAspect="1"/>
          </p:cNvPicPr>
          <p:nvPr/>
        </p:nvPicPr>
        <p:blipFill>
          <a:blip r:embed="rId2"/>
          <a:stretch>
            <a:fillRect/>
          </a:stretch>
        </p:blipFill>
        <p:spPr>
          <a:xfrm>
            <a:off x="3566160" y="2057400"/>
            <a:ext cx="4092951" cy="2468880"/>
          </a:xfrm>
          <a:prstGeom prst="rect">
            <a:avLst/>
          </a:prstGeom>
          <a:ln w="9525">
            <a:solidFill>
              <a:srgbClr val="BFBFBF"/>
            </a:solidFill>
          </a:ln>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5" type="body" hasCustomPrompt="1"/>
          </p:nvPr>
        </p:nvSpPr>
        <p:spPr>
          <a:xfrm>
            <a:off x="457200" y="822960"/>
            <a:ext cx="8229600" cy="256032"/>
          </a:xfrm>
          <a:prstGeom prst="rect">
            <a:avLst/>
          </a:prstGeom>
          <a:noFill/>
          <a:ln/>
        </p:spPr>
        <p:txBody>
          <a:bodyPr wrap="square" lIns="0" tIns="0" rIns="0" bIns="0" rtlCol="0" anchor="t"/>
          <a:lstStyle/>
          <a:p>
            <a:pPr algn="l" indent="0" marL="0">
              <a:buNone/>
            </a:pPr>
            <a:r>
              <a:rPr lang="en-US" sz="1200" b="1" dirty="0">
                <a:solidFill>
                  <a:schemeClr val="accent1"/>
                </a:solidFill>
              </a:rPr>
              <a:t>Technical Approach</a:t>
            </a:r>
            <a:pPr algn="l" indent="0" marL="0">
              <a:buNone/>
            </a:pPr>
            <a:r>
              <a:rPr lang="en-US" sz="1200" b="1" dirty="0">
                <a:solidFill>
                  <a:schemeClr val="accent2"/>
                </a:solidFill>
              </a:rPr>
              <a:t>  ·  Risk priority</a:t>
            </a:r>
            <a:endParaRPr lang="en-US" sz="1200" dirty="0"/>
          </a:p>
        </p:txBody>
      </p:sp>
      <p:sp>
        <p:nvSpPr>
          <p:cNvPr id="3" name="Text 3"/>
          <p:cNvSpPr/>
          <p:nvPr>
            <p:ph idx="106" type="title" hasCustomPrompt="1"/>
          </p:nvPr>
        </p:nvSpPr>
        <p:spPr>
          <a:xfrm>
            <a:off x="457200" y="1069848"/>
            <a:ext cx="8229600" cy="841248"/>
          </a:xfrm>
          <a:prstGeom prst="rect">
            <a:avLst/>
          </a:prstGeom>
          <a:noFill/>
          <a:ln/>
        </p:spPr>
        <p:txBody>
          <a:bodyPr wrap="square" lIns="0" tIns="0" rIns="0" bIns="0" rtlCol="0" anchor="t"/>
          <a:lstStyle/>
          <a:p>
            <a:pPr algn="l" indent="0" marL="0">
              <a:buNone/>
            </a:pPr>
            <a:r>
              <a:rPr lang="en-US" sz="2600" b="1" dirty="0">
                <a:solidFill>
                  <a:schemeClr val="tx1"/>
                </a:solidFill>
              </a:rPr>
              <a:t>Necessity first: a hospital outranks a premium subscription.</a:t>
            </a:r>
            <a:endParaRPr lang="en-US" sz="2600" dirty="0"/>
          </a:p>
        </p:txBody>
      </p:sp>
      <p:sp>
        <p:nvSpPr>
          <p:cNvPr id="6" name="Text 4"/>
          <p:cNvSpPr txBox="1"/>
          <p:nvPr/>
        </p:nvSpPr>
        <p:spPr>
          <a:xfrm>
            <a:off x="6080760" y="2103120"/>
            <a:ext cx="2606040" cy="320040"/>
          </a:xfrm>
          <a:prstGeom prst="rect">
            <a:avLst/>
          </a:prstGeom>
          <a:noFill/>
          <a:ln/>
        </p:spPr>
        <p:txBody>
          <a:bodyPr wrap="square" lIns="0" tIns="0" rIns="0" bIns="0" rtlCol="0" anchor="t"/>
          <a:lstStyle/>
          <a:p>
            <a:pPr indent="0" marL="0">
              <a:buNone/>
            </a:pPr>
            <a:r>
              <a:rPr lang="en-US" sz="1500" b="1" dirty="0">
                <a:solidFill>
                  <a:schemeClr val="accent2"/>
                </a:solidFill>
              </a:rPr>
              <a:t>Need before value</a:t>
            </a:r>
            <a:endParaRPr lang="en-US" sz="1500" dirty="0"/>
          </a:p>
        </p:txBody>
      </p:sp>
      <p:sp>
        <p:nvSpPr>
          <p:cNvPr id="7" name="Shape 5"/>
          <p:cNvSpPr/>
          <p:nvPr/>
        </p:nvSpPr>
        <p:spPr>
          <a:xfrm>
            <a:off x="6080760" y="2706624"/>
            <a:ext cx="109728" cy="109728"/>
          </a:xfrm>
          <a:prstGeom prst="ellipse">
            <a:avLst/>
          </a:prstGeom>
          <a:solidFill>
            <a:schemeClr val="accent1"/>
          </a:solidFill>
          <a:ln/>
        </p:spPr>
      </p:sp>
      <p:sp>
        <p:nvSpPr>
          <p:cNvPr id="8" name="Text 6"/>
          <p:cNvSpPr txBox="1"/>
          <p:nvPr/>
        </p:nvSpPr>
        <p:spPr>
          <a:xfrm>
            <a:off x="6327648" y="2606040"/>
            <a:ext cx="2377440" cy="310896"/>
          </a:xfrm>
          <a:prstGeom prst="rect">
            <a:avLst/>
          </a:prstGeom>
          <a:noFill/>
          <a:ln/>
        </p:spPr>
        <p:txBody>
          <a:bodyPr wrap="square" lIns="0" tIns="0" rIns="0" bIns="0" rtlCol="0" anchor="ctr"/>
          <a:lstStyle/>
          <a:p>
            <a:pPr indent="0" marL="0">
              <a:buNone/>
            </a:pPr>
            <a:r>
              <a:rPr lang="en-US" sz="1700" dirty="0">
                <a:solidFill>
                  <a:schemeClr val="tx1"/>
                </a:solidFill>
              </a:rPr>
              <a:t>Life-critical first</a:t>
            </a:r>
            <a:endParaRPr lang="en-US" sz="1700" dirty="0"/>
          </a:p>
        </p:txBody>
      </p:sp>
      <p:sp>
        <p:nvSpPr>
          <p:cNvPr id="9" name="Shape 7"/>
          <p:cNvSpPr/>
          <p:nvPr/>
        </p:nvSpPr>
        <p:spPr>
          <a:xfrm>
            <a:off x="6080760" y="3099816"/>
            <a:ext cx="109728" cy="109728"/>
          </a:xfrm>
          <a:prstGeom prst="ellipse">
            <a:avLst/>
          </a:prstGeom>
          <a:solidFill>
            <a:schemeClr val="accent1"/>
          </a:solidFill>
          <a:ln/>
        </p:spPr>
      </p:sp>
      <p:sp>
        <p:nvSpPr>
          <p:cNvPr id="10" name="Text 8"/>
          <p:cNvSpPr txBox="1"/>
          <p:nvPr/>
        </p:nvSpPr>
        <p:spPr>
          <a:xfrm>
            <a:off x="6327648" y="2999232"/>
            <a:ext cx="2377440" cy="310896"/>
          </a:xfrm>
          <a:prstGeom prst="rect">
            <a:avLst/>
          </a:prstGeom>
          <a:noFill/>
          <a:ln/>
        </p:spPr>
        <p:txBody>
          <a:bodyPr wrap="square" lIns="0" tIns="0" rIns="0" bIns="0" rtlCol="0" anchor="ctr"/>
          <a:lstStyle/>
          <a:p>
            <a:pPr indent="0" marL="0">
              <a:buNone/>
            </a:pPr>
            <a:r>
              <a:rPr lang="en-US" sz="1700" dirty="0">
                <a:solidFill>
                  <a:schemeClr val="tx1"/>
                </a:solidFill>
              </a:rPr>
              <a:t>Then essential needs</a:t>
            </a:r>
            <a:endParaRPr lang="en-US" sz="1700" dirty="0"/>
          </a:p>
        </p:txBody>
      </p:sp>
      <p:sp>
        <p:nvSpPr>
          <p:cNvPr id="11" name="Shape 9"/>
          <p:cNvSpPr/>
          <p:nvPr/>
        </p:nvSpPr>
        <p:spPr>
          <a:xfrm>
            <a:off x="6080760" y="3493008"/>
            <a:ext cx="109728" cy="109728"/>
          </a:xfrm>
          <a:prstGeom prst="ellipse">
            <a:avLst/>
          </a:prstGeom>
          <a:solidFill>
            <a:schemeClr val="accent1"/>
          </a:solidFill>
          <a:ln/>
        </p:spPr>
      </p:sp>
      <p:sp>
        <p:nvSpPr>
          <p:cNvPr id="12" name="Text 10"/>
          <p:cNvSpPr txBox="1"/>
          <p:nvPr/>
        </p:nvSpPr>
        <p:spPr>
          <a:xfrm>
            <a:off x="6327648" y="3392424"/>
            <a:ext cx="2377440" cy="310896"/>
          </a:xfrm>
          <a:prstGeom prst="rect">
            <a:avLst/>
          </a:prstGeom>
          <a:noFill/>
          <a:ln/>
        </p:spPr>
        <p:txBody>
          <a:bodyPr wrap="square" lIns="0" tIns="0" rIns="0" bIns="0" rtlCol="0" anchor="ctr"/>
          <a:lstStyle/>
          <a:p>
            <a:pPr indent="0" marL="0">
              <a:buNone/>
            </a:pPr>
            <a:r>
              <a:rPr lang="en-US" sz="1700" dirty="0">
                <a:solidFill>
                  <a:schemeClr val="tx1"/>
                </a:solidFill>
              </a:rPr>
              <a:t>Then urgency, contract</a:t>
            </a:r>
            <a:endParaRPr lang="en-US" sz="1700" dirty="0"/>
          </a:p>
        </p:txBody>
      </p:sp>
      <p:sp>
        <p:nvSpPr>
          <p:cNvPr id="13" name="Shape 11"/>
          <p:cNvSpPr/>
          <p:nvPr/>
        </p:nvSpPr>
        <p:spPr>
          <a:xfrm>
            <a:off x="6080760" y="3886200"/>
            <a:ext cx="109728" cy="109728"/>
          </a:xfrm>
          <a:prstGeom prst="ellipse">
            <a:avLst/>
          </a:prstGeom>
          <a:solidFill>
            <a:schemeClr val="accent1"/>
          </a:solidFill>
          <a:ln/>
        </p:spPr>
      </p:sp>
      <p:sp>
        <p:nvSpPr>
          <p:cNvPr id="14" name="Text 12"/>
          <p:cNvSpPr txBox="1"/>
          <p:nvPr/>
        </p:nvSpPr>
        <p:spPr>
          <a:xfrm>
            <a:off x="6327648" y="3785616"/>
            <a:ext cx="2377440" cy="310896"/>
          </a:xfrm>
          <a:prstGeom prst="rect">
            <a:avLst/>
          </a:prstGeom>
          <a:noFill/>
          <a:ln/>
        </p:spPr>
        <p:txBody>
          <a:bodyPr wrap="square" lIns="0" tIns="0" rIns="0" bIns="0" rtlCol="0" anchor="ctr"/>
          <a:lstStyle/>
          <a:p>
            <a:pPr indent="0" marL="0">
              <a:buNone/>
            </a:pPr>
            <a:r>
              <a:rPr lang="en-US" sz="1700" dirty="0">
                <a:solidFill>
                  <a:schemeClr val="tx1"/>
                </a:solidFill>
              </a:rPr>
              <a:t>Its stock is protected</a:t>
            </a:r>
            <a:endParaRPr lang="en-US" sz="1700" dirty="0"/>
          </a:p>
        </p:txBody>
      </p:sp>
      <p:sp>
        <p:nvSpPr>
          <p:cNvPr id="15" name="Shape 13"/>
          <p:cNvSpPr/>
          <p:nvPr/>
        </p:nvSpPr>
        <p:spPr>
          <a:xfrm>
            <a:off x="6080760" y="4279392"/>
            <a:ext cx="109728" cy="109728"/>
          </a:xfrm>
          <a:prstGeom prst="ellipse">
            <a:avLst/>
          </a:prstGeom>
          <a:solidFill>
            <a:schemeClr val="accent1"/>
          </a:solidFill>
          <a:ln/>
        </p:spPr>
      </p:sp>
      <p:sp>
        <p:nvSpPr>
          <p:cNvPr id="16" name="Text 14"/>
          <p:cNvSpPr txBox="1"/>
          <p:nvPr/>
        </p:nvSpPr>
        <p:spPr>
          <a:xfrm>
            <a:off x="6327648" y="4178808"/>
            <a:ext cx="2377440" cy="310896"/>
          </a:xfrm>
          <a:prstGeom prst="rect">
            <a:avLst/>
          </a:prstGeom>
          <a:noFill/>
          <a:ln/>
        </p:spPr>
        <p:txBody>
          <a:bodyPr wrap="square" lIns="0" tIns="0" rIns="0" bIns="0" rtlCol="0" anchor="ctr"/>
          <a:lstStyle/>
          <a:p>
            <a:pPr indent="0" marL="0">
              <a:buNone/>
            </a:pPr>
            <a:r>
              <a:rPr lang="en-US" sz="1700" dirty="0">
                <a:solidFill>
                  <a:schemeClr val="tx1"/>
                </a:solidFill>
              </a:rPr>
              <a:t>Alert: Recover now</a:t>
            </a:r>
            <a:endParaRPr lang="en-US" sz="1700" dirty="0"/>
          </a:p>
        </p:txBody>
      </p:sp>
      <p:pic>
        <p:nvPicPr>
          <p:cNvPr id="66" name="Screenshot 6" descr="Life-critical alert header, orders ranked by need, and a fix blocked because it would take a hospital order's stock"/>
          <p:cNvPicPr>
            <a:picLocks noChangeAspect="1"/>
          </p:cNvPicPr>
          <p:nvPr/>
        </p:nvPicPr>
        <p:blipFill>
          <a:blip r:embed="rId2"/>
          <a:stretch>
            <a:fillRect/>
          </a:stretch>
        </p:blipFill>
        <p:spPr>
          <a:xfrm>
            <a:off x="457200" y="2239742"/>
            <a:ext cx="5257800" cy="2104196"/>
          </a:xfrm>
          <a:prstGeom prst="rect">
            <a:avLst/>
          </a:prstGeom>
          <a:ln w="9525">
            <a:solidFill>
              <a:srgbClr val="BFBFBF"/>
            </a:solidFill>
          </a:ln>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DisruptionIQ Overclock26">
  <a:themeElements>
    <a:clrScheme name="DisruptionIQ Overclock26">
      <a:dk1>
        <a:srgbClr val="0B1B3A"/>
      </a:dk1>
      <a:lt1>
        <a:srgbClr val="FFFFFF"/>
      </a:lt1>
      <a:dk2>
        <a:srgbClr val="0F2A63"/>
      </a:dk2>
      <a:lt2>
        <a:srgbClr val="F1F3F6"/>
      </a:lt2>
      <a:accent1>
        <a:srgbClr val="C2410C"/>
      </a:accent1>
      <a:accent2>
        <a:srgbClr val="5B6475"/>
      </a:accent2>
      <a:accent3>
        <a:srgbClr val="CDD3DC"/>
      </a:accent3>
      <a:accent4>
        <a:srgbClr val="FCEDE5"/>
      </a:accent4>
      <a:accent5>
        <a:srgbClr val="8A93A3"/>
      </a:accent5>
      <a:accent6>
        <a:srgbClr val="DADEE4"/>
      </a:accent6>
      <a:hlink>
        <a:srgbClr val="C2410C"/>
      </a:hlink>
      <a:folHlink>
        <a:srgbClr val="5B6475"/>
      </a:folHlink>
    </a:clrScheme>
    <a:fontScheme name="DisruptionIQ Overclock2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DisruptionIQ</dc:title>
  <dc:subject>Overclock'26 jury presentation</dc:subject>
  <dc:creator>PptxGenJS</dc:creator>
  <cp:lastModifiedBy>PptxGenJS</cp:lastModifiedBy>
  <cp:revision>1</cp:revision>
  <dcterms:created xsi:type="dcterms:W3CDTF">2026-10-30T04:51:33Z</dcterms:created>
  <dcterms:modified xsi:type="dcterms:W3CDTF">2026-10-30T04:51:33Z</dcterms:modified>
</cp:coreProperties>
</file>